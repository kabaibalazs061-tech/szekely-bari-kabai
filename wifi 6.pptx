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03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Közepesen sötét stílus 2 – 1. jelölőszín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96" y="5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D76C4A-E1F9-49C1-BCE4-2E358991CE58}" type="datetimeFigureOut">
              <a:rPr lang="hu-HU" smtClean="0"/>
              <a:t>2025. 11. 25.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8CFC50-B5E9-4F9E-9F3F-97A57D0BE76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230050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D76C4A-E1F9-49C1-BCE4-2E358991CE58}" type="datetimeFigureOut">
              <a:rPr lang="hu-HU" smtClean="0"/>
              <a:t>2025. 11. 25.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8CFC50-B5E9-4F9E-9F3F-97A57D0BE76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978393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D76C4A-E1F9-49C1-BCE4-2E358991CE58}" type="datetimeFigureOut">
              <a:rPr lang="hu-HU" smtClean="0"/>
              <a:t>2025. 11. 25.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8CFC50-B5E9-4F9E-9F3F-97A57D0BE76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35099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D76C4A-E1F9-49C1-BCE4-2E358991CE58}" type="datetimeFigureOut">
              <a:rPr lang="hu-HU" smtClean="0"/>
              <a:t>2025. 11. 25.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8CFC50-B5E9-4F9E-9F3F-97A57D0BE76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918833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D76C4A-E1F9-49C1-BCE4-2E358991CE58}" type="datetimeFigureOut">
              <a:rPr lang="hu-HU" smtClean="0"/>
              <a:t>2025. 11. 25.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8CFC50-B5E9-4F9E-9F3F-97A57D0BE76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064345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D76C4A-E1F9-49C1-BCE4-2E358991CE58}" type="datetimeFigureOut">
              <a:rPr lang="hu-HU" smtClean="0"/>
              <a:t>2025. 11. 25.</a:t>
            </a:fld>
            <a:endParaRPr lang="hu-HU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8CFC50-B5E9-4F9E-9F3F-97A57D0BE76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279835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D76C4A-E1F9-49C1-BCE4-2E358991CE58}" type="datetimeFigureOut">
              <a:rPr lang="hu-HU" smtClean="0"/>
              <a:t>2025. 11. 25.</a:t>
            </a:fld>
            <a:endParaRPr lang="hu-HU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8CFC50-B5E9-4F9E-9F3F-97A57D0BE76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091058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D76C4A-E1F9-49C1-BCE4-2E358991CE58}" type="datetimeFigureOut">
              <a:rPr lang="hu-HU" smtClean="0"/>
              <a:t>2025. 11. 25.</a:t>
            </a:fld>
            <a:endParaRPr lang="hu-HU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8CFC50-B5E9-4F9E-9F3F-97A57D0BE76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42928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D76C4A-E1F9-49C1-BCE4-2E358991CE58}" type="datetimeFigureOut">
              <a:rPr lang="hu-HU" smtClean="0"/>
              <a:t>2025. 11. 25.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8CFC50-B5E9-4F9E-9F3F-97A57D0BE76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179505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áma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D76C4A-E1F9-49C1-BCE4-2E358991CE58}" type="datetimeFigureOut">
              <a:rPr lang="hu-HU" smtClean="0"/>
              <a:t>2025. 11. 25.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8CFC50-B5E9-4F9E-9F3F-97A57D0BE76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124961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D76C4A-E1F9-49C1-BCE4-2E358991CE58}" type="datetimeFigureOut">
              <a:rPr lang="hu-HU" smtClean="0"/>
              <a:t>2025. 11. 25.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8CFC50-B5E9-4F9E-9F3F-97A57D0BE76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5620738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hu-HU"/>
              <a:t>Mintaszöveg szerkesztése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D76C4A-E1F9-49C1-BCE4-2E358991CE58}" type="datetimeFigureOut">
              <a:rPr lang="hu-HU" smtClean="0"/>
              <a:t>2025. 11. 25.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8CFC50-B5E9-4F9E-9F3F-97A57D0BE76A}" type="slidenum">
              <a:rPr lang="hu-HU" smtClean="0"/>
              <a:t>‹#›</a:t>
            </a:fld>
            <a:endParaRPr lang="hu-HU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68589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D76C4A-E1F9-49C1-BCE4-2E358991CE58}" type="datetimeFigureOut">
              <a:rPr lang="hu-HU" smtClean="0"/>
              <a:t>2025. 11. 25.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8CFC50-B5E9-4F9E-9F3F-97A57D0BE76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9930815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D76C4A-E1F9-49C1-BCE4-2E358991CE58}" type="datetimeFigureOut">
              <a:rPr lang="hu-HU" smtClean="0"/>
              <a:t>2025. 11. 25.</a:t>
            </a:fld>
            <a:endParaRPr lang="hu-HU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8CFC50-B5E9-4F9E-9F3F-97A57D0BE76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13744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kép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D76C4A-E1F9-49C1-BCE4-2E358991CE58}" type="datetimeFigureOut">
              <a:rPr lang="hu-HU" smtClean="0"/>
              <a:t>2025. 11. 25.</a:t>
            </a:fld>
            <a:endParaRPr lang="hu-HU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8CFC50-B5E9-4F9E-9F3F-97A57D0BE76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7078265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D76C4A-E1F9-49C1-BCE4-2E358991CE58}" type="datetimeFigureOut">
              <a:rPr lang="hu-HU" smtClean="0"/>
              <a:t>2025. 11. 25.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8CFC50-B5E9-4F9E-9F3F-97A57D0BE76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1799004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D76C4A-E1F9-49C1-BCE4-2E358991CE58}" type="datetimeFigureOut">
              <a:rPr lang="hu-HU" smtClean="0"/>
              <a:t>2025. 11. 25.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8CFC50-B5E9-4F9E-9F3F-97A57D0BE76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152351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57D76C4A-E1F9-49C1-BCE4-2E358991CE58}" type="datetimeFigureOut">
              <a:rPr lang="hu-HU" smtClean="0"/>
              <a:t>2025. 11. 25.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8CFC50-B5E9-4F9E-9F3F-97A57D0BE76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0393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04" r:id="rId1"/>
    <p:sldLayoutId id="2147483805" r:id="rId2"/>
    <p:sldLayoutId id="2147483806" r:id="rId3"/>
    <p:sldLayoutId id="2147483807" r:id="rId4"/>
    <p:sldLayoutId id="2147483808" r:id="rId5"/>
    <p:sldLayoutId id="2147483809" r:id="rId6"/>
    <p:sldLayoutId id="2147483810" r:id="rId7"/>
    <p:sldLayoutId id="2147483811" r:id="rId8"/>
    <p:sldLayoutId id="2147483812" r:id="rId9"/>
    <p:sldLayoutId id="2147483813" r:id="rId10"/>
    <p:sldLayoutId id="2147483814" r:id="rId11"/>
    <p:sldLayoutId id="2147483815" r:id="rId12"/>
    <p:sldLayoutId id="2147483816" r:id="rId13"/>
    <p:sldLayoutId id="2147483817" r:id="rId14"/>
    <p:sldLayoutId id="2147483818" r:id="rId15"/>
    <p:sldLayoutId id="2147483819" r:id="rId16"/>
    <p:sldLayoutId id="2147483820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11D0A3A-F724-4787-8059-59E7031569F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/>
              <a:t>WIFI 6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341894AB-D880-4DCC-968E-C826A74B18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79171" y="4896363"/>
            <a:ext cx="8825658" cy="861420"/>
          </a:xfrm>
        </p:spPr>
        <p:txBody>
          <a:bodyPr/>
          <a:lstStyle/>
          <a:p>
            <a:r>
              <a:rPr lang="hu-HU" dirty="0"/>
              <a:t>Készítette: Székely Máté</a:t>
            </a:r>
          </a:p>
        </p:txBody>
      </p:sp>
    </p:spTree>
    <p:extLst>
      <p:ext uri="{BB962C8B-B14F-4D97-AF65-F5344CB8AC3E}">
        <p14:creationId xmlns:p14="http://schemas.microsoft.com/office/powerpoint/2010/main" val="379219195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6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5DCFB65-2577-40FC-945B-97FF274F7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A </a:t>
            </a:r>
            <a:r>
              <a:rPr lang="hu-HU" dirty="0" err="1"/>
              <a:t>Wi</a:t>
            </a:r>
            <a:r>
              <a:rPr lang="hu-HU" dirty="0"/>
              <a:t>-Fi 6 technológia fő jellemzői: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671D08A-0CF3-4D40-B971-5F7BF2A991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lvl="0"/>
            <a:r>
              <a:rPr lang="hu-HU" sz="2000" b="1" dirty="0"/>
              <a:t>OFDMA (</a:t>
            </a:r>
            <a:r>
              <a:rPr lang="hu-HU" sz="2000" b="1" dirty="0" err="1"/>
              <a:t>Orthogonal</a:t>
            </a:r>
            <a:r>
              <a:rPr lang="hu-HU" sz="2000" b="1" dirty="0"/>
              <a:t> </a:t>
            </a:r>
            <a:r>
              <a:rPr lang="hu-HU" sz="2000" b="1" dirty="0" err="1"/>
              <a:t>Frequency</a:t>
            </a:r>
            <a:r>
              <a:rPr lang="hu-HU" sz="2000" b="1" dirty="0"/>
              <a:t> </a:t>
            </a:r>
            <a:r>
              <a:rPr lang="hu-HU" sz="2000" b="1" dirty="0" err="1"/>
              <a:t>Division</a:t>
            </a:r>
            <a:r>
              <a:rPr lang="hu-HU" sz="2000" b="1" dirty="0"/>
              <a:t> </a:t>
            </a:r>
            <a:r>
              <a:rPr lang="hu-HU" sz="2000" b="1" dirty="0" err="1"/>
              <a:t>Multiple</a:t>
            </a:r>
            <a:r>
              <a:rPr lang="hu-HU" sz="2000" b="1" dirty="0"/>
              <a:t> Access):</a:t>
            </a:r>
            <a:r>
              <a:rPr lang="hu-HU" sz="2000" dirty="0"/>
              <a:t> Ez a technológia lehetővé teszi, hogy egyetlen adatcsatornán egyszerre több eszköz kommunikáljon. Így csökken a késleltetés, és hatékonyabb lesz az adatforgalom kezelése.</a:t>
            </a:r>
          </a:p>
          <a:p>
            <a:pPr lvl="0"/>
            <a:r>
              <a:rPr lang="hu-HU" sz="2000" b="1" dirty="0"/>
              <a:t>MU-MIMO (Multi-</a:t>
            </a:r>
            <a:r>
              <a:rPr lang="hu-HU" sz="2000" b="1" dirty="0" err="1"/>
              <a:t>User</a:t>
            </a:r>
            <a:r>
              <a:rPr lang="hu-HU" sz="2000" b="1" dirty="0"/>
              <a:t>, </a:t>
            </a:r>
            <a:r>
              <a:rPr lang="hu-HU" sz="2000" b="1" dirty="0" err="1"/>
              <a:t>Multiple</a:t>
            </a:r>
            <a:r>
              <a:rPr lang="hu-HU" sz="2000" b="1" dirty="0"/>
              <a:t> Input </a:t>
            </a:r>
            <a:r>
              <a:rPr lang="hu-HU" sz="2000" b="1" dirty="0" err="1"/>
              <a:t>Multiple</a:t>
            </a:r>
            <a:r>
              <a:rPr lang="hu-HU" sz="2000" b="1" dirty="0"/>
              <a:t> Output):</a:t>
            </a:r>
            <a:r>
              <a:rPr lang="hu-HU" sz="2000" dirty="0"/>
              <a:t> Már a </a:t>
            </a:r>
            <a:r>
              <a:rPr lang="hu-HU" sz="2000" dirty="0" err="1"/>
              <a:t>Wi</a:t>
            </a:r>
            <a:r>
              <a:rPr lang="hu-HU" sz="2000" dirty="0"/>
              <a:t>-Fi 5 is használta, de a </a:t>
            </a:r>
            <a:r>
              <a:rPr lang="hu-HU" sz="2000" dirty="0" err="1"/>
              <a:t>Wi</a:t>
            </a:r>
            <a:r>
              <a:rPr lang="hu-HU" sz="2000" dirty="0"/>
              <a:t>-Fi 6 továbbfejlesztette. Most már nemcsak letöltés, hanem feltöltés közben is egyszerre több eszköz kommunikálhat.</a:t>
            </a:r>
          </a:p>
          <a:p>
            <a:pPr lvl="0"/>
            <a:r>
              <a:rPr lang="hu-HU" sz="2000" b="1" dirty="0"/>
              <a:t>TWT (</a:t>
            </a:r>
            <a:r>
              <a:rPr lang="hu-HU" sz="2000" b="1" dirty="0" err="1"/>
              <a:t>Target</a:t>
            </a:r>
            <a:r>
              <a:rPr lang="hu-HU" sz="2000" b="1" dirty="0"/>
              <a:t> </a:t>
            </a:r>
            <a:r>
              <a:rPr lang="hu-HU" sz="2000" b="1" dirty="0" err="1"/>
              <a:t>Wake</a:t>
            </a:r>
            <a:r>
              <a:rPr lang="hu-HU" sz="2000" b="1" dirty="0"/>
              <a:t> Time):</a:t>
            </a:r>
            <a:r>
              <a:rPr lang="hu-HU" sz="2000" dirty="0"/>
              <a:t> Ez az új funkció az energiatakarékosságot szolgálja. Az eszközök „alvó” üzemmódban maradhatnak, amíg nincs szükség adatforgalomra, így például az okosotthon-eszközök akkumulátora sokkal tovább bírja.</a:t>
            </a:r>
          </a:p>
          <a:p>
            <a:pPr lvl="0"/>
            <a:r>
              <a:rPr lang="hu-HU" sz="2000" b="1" dirty="0"/>
              <a:t>1024-QAM moduláció:</a:t>
            </a:r>
            <a:r>
              <a:rPr lang="hu-HU" sz="2000" dirty="0"/>
              <a:t> A nagyobb modulációs sűrűségnek köszönhetően nő az adatátvitel sebessége – ideális körülmények között akár 9,6 </a:t>
            </a:r>
            <a:r>
              <a:rPr lang="hu-HU" sz="2000" dirty="0" err="1"/>
              <a:t>Gb</a:t>
            </a:r>
            <a:r>
              <a:rPr lang="hu-HU" sz="2000" dirty="0"/>
              <a:t>/s is elérhető.</a:t>
            </a: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0910666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CF73DD5-DE63-4971-9FA3-B0F832CDF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 Összehasonlítás a korábbi szabványokkal:</a:t>
            </a:r>
          </a:p>
        </p:txBody>
      </p:sp>
      <p:graphicFrame>
        <p:nvGraphicFramePr>
          <p:cNvPr id="4" name="Tartalom helye 3">
            <a:extLst>
              <a:ext uri="{FF2B5EF4-FFF2-40B4-BE49-F238E27FC236}">
                <a16:creationId xmlns:a16="http://schemas.microsoft.com/office/drawing/2014/main" id="{7DF07875-4C92-4854-B1FB-F2A3B013430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39739223"/>
              </p:ext>
            </p:extLst>
          </p:nvPr>
        </p:nvGraphicFramePr>
        <p:xfrm>
          <a:off x="1017319" y="2197633"/>
          <a:ext cx="11062960" cy="4465041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765740">
                  <a:extLst>
                    <a:ext uri="{9D8B030D-6E8A-4147-A177-3AD203B41FA5}">
                      <a16:colId xmlns:a16="http://schemas.microsoft.com/office/drawing/2014/main" val="1100907579"/>
                    </a:ext>
                  </a:extLst>
                </a:gridCol>
                <a:gridCol w="2765740">
                  <a:extLst>
                    <a:ext uri="{9D8B030D-6E8A-4147-A177-3AD203B41FA5}">
                      <a16:colId xmlns:a16="http://schemas.microsoft.com/office/drawing/2014/main" val="1717276060"/>
                    </a:ext>
                  </a:extLst>
                </a:gridCol>
                <a:gridCol w="2765740">
                  <a:extLst>
                    <a:ext uri="{9D8B030D-6E8A-4147-A177-3AD203B41FA5}">
                      <a16:colId xmlns:a16="http://schemas.microsoft.com/office/drawing/2014/main" val="2718057074"/>
                    </a:ext>
                  </a:extLst>
                </a:gridCol>
                <a:gridCol w="2765740">
                  <a:extLst>
                    <a:ext uri="{9D8B030D-6E8A-4147-A177-3AD203B41FA5}">
                      <a16:colId xmlns:a16="http://schemas.microsoft.com/office/drawing/2014/main" val="1921894733"/>
                    </a:ext>
                  </a:extLst>
                </a:gridCol>
              </a:tblGrid>
              <a:tr h="469380">
                <a:tc>
                  <a:txBody>
                    <a:bodyPr/>
                    <a:lstStyle/>
                    <a:p>
                      <a:pPr marR="36195" indent="756285" algn="ctr">
                        <a:lnSpc>
                          <a:spcPct val="300000"/>
                        </a:lnSpc>
                        <a:spcAft>
                          <a:spcPts val="0"/>
                        </a:spcAft>
                      </a:pPr>
                      <a:r>
                        <a:rPr lang="hu-HU" sz="1400" dirty="0">
                          <a:effectLst/>
                        </a:rPr>
                        <a:t>Tulajdonság</a:t>
                      </a:r>
                      <a:endParaRPr lang="hu-HU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632" marR="6632" marT="6632" marB="6632" anchor="ctr"/>
                </a:tc>
                <a:tc>
                  <a:txBody>
                    <a:bodyPr/>
                    <a:lstStyle/>
                    <a:p>
                      <a:pPr marR="36195" indent="756285" algn="ctr">
                        <a:lnSpc>
                          <a:spcPct val="300000"/>
                        </a:lnSpc>
                        <a:spcAft>
                          <a:spcPts val="0"/>
                        </a:spcAft>
                      </a:pPr>
                      <a:r>
                        <a:rPr lang="hu-HU" sz="1400" dirty="0" err="1">
                          <a:effectLst/>
                        </a:rPr>
                        <a:t>Wi</a:t>
                      </a:r>
                      <a:r>
                        <a:rPr lang="hu-HU" sz="1400" dirty="0">
                          <a:effectLst/>
                        </a:rPr>
                        <a:t>-Fi 4</a:t>
                      </a:r>
                      <a:endParaRPr lang="hu-HU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632" marR="6632" marT="6632" marB="6632" anchor="ctr"/>
                </a:tc>
                <a:tc>
                  <a:txBody>
                    <a:bodyPr/>
                    <a:lstStyle/>
                    <a:p>
                      <a:pPr marR="36195" indent="756285" algn="ctr">
                        <a:lnSpc>
                          <a:spcPct val="300000"/>
                        </a:lnSpc>
                        <a:spcAft>
                          <a:spcPts val="0"/>
                        </a:spcAft>
                      </a:pPr>
                      <a:r>
                        <a:rPr lang="hu-HU" sz="1400">
                          <a:effectLst/>
                        </a:rPr>
                        <a:t>Wi-Fi 5</a:t>
                      </a:r>
                      <a:endParaRPr lang="hu-HU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632" marR="6632" marT="6632" marB="6632" anchor="ctr"/>
                </a:tc>
                <a:tc>
                  <a:txBody>
                    <a:bodyPr/>
                    <a:lstStyle/>
                    <a:p>
                      <a:pPr marR="36195" indent="756285" algn="ctr">
                        <a:lnSpc>
                          <a:spcPct val="300000"/>
                        </a:lnSpc>
                        <a:spcAft>
                          <a:spcPts val="0"/>
                        </a:spcAft>
                      </a:pPr>
                      <a:r>
                        <a:rPr lang="hu-HU" sz="1400">
                          <a:effectLst/>
                        </a:rPr>
                        <a:t>Wi-Fi 6</a:t>
                      </a:r>
                      <a:endParaRPr lang="hu-HU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632" marR="6632" marT="6632" marB="6632" anchor="ctr"/>
                </a:tc>
                <a:extLst>
                  <a:ext uri="{0D108BD9-81ED-4DB2-BD59-A6C34878D82A}">
                    <a16:rowId xmlns:a16="http://schemas.microsoft.com/office/drawing/2014/main" val="2308868288"/>
                  </a:ext>
                </a:extLst>
              </a:tr>
              <a:tr h="1030356">
                <a:tc>
                  <a:txBody>
                    <a:bodyPr/>
                    <a:lstStyle/>
                    <a:p>
                      <a:pPr marR="36195" indent="756285">
                        <a:lnSpc>
                          <a:spcPct val="300000"/>
                        </a:lnSpc>
                        <a:spcAft>
                          <a:spcPts val="0"/>
                        </a:spcAft>
                      </a:pPr>
                      <a:r>
                        <a:rPr lang="hu-HU" sz="1400" dirty="0">
                          <a:effectLst/>
                        </a:rPr>
                        <a:t>Maximális sebesség</a:t>
                      </a:r>
                      <a:endParaRPr lang="hu-HU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632" marR="6632" marT="6632" marB="6632" anchor="ctr"/>
                </a:tc>
                <a:tc>
                  <a:txBody>
                    <a:bodyPr/>
                    <a:lstStyle/>
                    <a:p>
                      <a:pPr marR="36195" indent="756285">
                        <a:lnSpc>
                          <a:spcPct val="300000"/>
                        </a:lnSpc>
                        <a:spcAft>
                          <a:spcPts val="0"/>
                        </a:spcAft>
                      </a:pPr>
                      <a:r>
                        <a:rPr lang="hu-HU" sz="1400" dirty="0">
                          <a:effectLst/>
                        </a:rPr>
                        <a:t>600 </a:t>
                      </a:r>
                      <a:r>
                        <a:rPr lang="hu-HU" sz="1400" dirty="0" err="1">
                          <a:effectLst/>
                        </a:rPr>
                        <a:t>Mb</a:t>
                      </a:r>
                      <a:r>
                        <a:rPr lang="hu-HU" sz="1400" dirty="0">
                          <a:effectLst/>
                        </a:rPr>
                        <a:t>/s</a:t>
                      </a:r>
                      <a:endParaRPr lang="hu-HU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632" marR="6632" marT="6632" marB="6632" anchor="ctr"/>
                </a:tc>
                <a:tc>
                  <a:txBody>
                    <a:bodyPr/>
                    <a:lstStyle/>
                    <a:p>
                      <a:pPr marR="36195" indent="756285">
                        <a:lnSpc>
                          <a:spcPct val="300000"/>
                        </a:lnSpc>
                        <a:spcAft>
                          <a:spcPts val="0"/>
                        </a:spcAft>
                      </a:pPr>
                      <a:r>
                        <a:rPr lang="hu-HU" sz="1400" dirty="0">
                          <a:effectLst/>
                        </a:rPr>
                        <a:t>3,5 </a:t>
                      </a:r>
                      <a:r>
                        <a:rPr lang="hu-HU" sz="1400" dirty="0" err="1">
                          <a:effectLst/>
                        </a:rPr>
                        <a:t>Gb</a:t>
                      </a:r>
                      <a:r>
                        <a:rPr lang="hu-HU" sz="1400" dirty="0">
                          <a:effectLst/>
                        </a:rPr>
                        <a:t>/s</a:t>
                      </a:r>
                      <a:endParaRPr lang="hu-HU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632" marR="6632" marT="6632" marB="6632" anchor="ctr"/>
                </a:tc>
                <a:tc>
                  <a:txBody>
                    <a:bodyPr/>
                    <a:lstStyle/>
                    <a:p>
                      <a:pPr marR="36195" indent="756285">
                        <a:lnSpc>
                          <a:spcPct val="300000"/>
                        </a:lnSpc>
                        <a:spcAft>
                          <a:spcPts val="0"/>
                        </a:spcAft>
                      </a:pPr>
                      <a:r>
                        <a:rPr lang="hu-HU" sz="1400" dirty="0">
                          <a:effectLst/>
                        </a:rPr>
                        <a:t>9,6 </a:t>
                      </a:r>
                      <a:r>
                        <a:rPr lang="hu-HU" sz="1400" dirty="0" err="1">
                          <a:effectLst/>
                        </a:rPr>
                        <a:t>Gb</a:t>
                      </a:r>
                      <a:r>
                        <a:rPr lang="hu-HU" sz="1400" dirty="0">
                          <a:effectLst/>
                        </a:rPr>
                        <a:t>/s</a:t>
                      </a:r>
                      <a:endParaRPr lang="hu-HU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632" marR="6632" marT="6632" marB="6632" anchor="ctr"/>
                </a:tc>
                <a:extLst>
                  <a:ext uri="{0D108BD9-81ED-4DB2-BD59-A6C34878D82A}">
                    <a16:rowId xmlns:a16="http://schemas.microsoft.com/office/drawing/2014/main" val="2646591340"/>
                  </a:ext>
                </a:extLst>
              </a:tr>
              <a:tr h="469509">
                <a:tc>
                  <a:txBody>
                    <a:bodyPr/>
                    <a:lstStyle/>
                    <a:p>
                      <a:pPr marR="36195" indent="756285">
                        <a:lnSpc>
                          <a:spcPct val="300000"/>
                        </a:lnSpc>
                        <a:spcAft>
                          <a:spcPts val="0"/>
                        </a:spcAft>
                      </a:pPr>
                      <a:r>
                        <a:rPr lang="hu-HU" sz="1400" dirty="0">
                          <a:effectLst/>
                        </a:rPr>
                        <a:t>Frekvenciasáv</a:t>
                      </a:r>
                      <a:endParaRPr lang="hu-HU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632" marR="6632" marT="6632" marB="6632" anchor="ctr"/>
                </a:tc>
                <a:tc>
                  <a:txBody>
                    <a:bodyPr/>
                    <a:lstStyle/>
                    <a:p>
                      <a:pPr marR="36195" indent="756285">
                        <a:lnSpc>
                          <a:spcPct val="300000"/>
                        </a:lnSpc>
                        <a:spcAft>
                          <a:spcPts val="0"/>
                        </a:spcAft>
                      </a:pPr>
                      <a:r>
                        <a:rPr lang="hu-HU" sz="1400" dirty="0">
                          <a:effectLst/>
                        </a:rPr>
                        <a:t>2,4 </a:t>
                      </a:r>
                      <a:r>
                        <a:rPr lang="hu-HU" sz="1400" dirty="0" err="1">
                          <a:effectLst/>
                        </a:rPr>
                        <a:t>GHz</a:t>
                      </a:r>
                      <a:endParaRPr lang="hu-HU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632" marR="6632" marT="6632" marB="6632" anchor="ctr"/>
                </a:tc>
                <a:tc>
                  <a:txBody>
                    <a:bodyPr/>
                    <a:lstStyle/>
                    <a:p>
                      <a:pPr marR="36195" indent="756285">
                        <a:lnSpc>
                          <a:spcPct val="300000"/>
                        </a:lnSpc>
                        <a:spcAft>
                          <a:spcPts val="0"/>
                        </a:spcAft>
                      </a:pPr>
                      <a:r>
                        <a:rPr lang="hu-HU" sz="1400" dirty="0">
                          <a:effectLst/>
                        </a:rPr>
                        <a:t>5 </a:t>
                      </a:r>
                      <a:r>
                        <a:rPr lang="hu-HU" sz="1400" dirty="0" err="1">
                          <a:effectLst/>
                        </a:rPr>
                        <a:t>GHz</a:t>
                      </a:r>
                      <a:endParaRPr lang="hu-HU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632" marR="6632" marT="6632" marB="6632" anchor="ctr"/>
                </a:tc>
                <a:tc>
                  <a:txBody>
                    <a:bodyPr/>
                    <a:lstStyle/>
                    <a:p>
                      <a:pPr marR="36195" indent="756285">
                        <a:lnSpc>
                          <a:spcPct val="300000"/>
                        </a:lnSpc>
                        <a:spcAft>
                          <a:spcPts val="0"/>
                        </a:spcAft>
                      </a:pPr>
                      <a:r>
                        <a:rPr lang="hu-HU" sz="1400" dirty="0">
                          <a:effectLst/>
                        </a:rPr>
                        <a:t>2,4 </a:t>
                      </a:r>
                      <a:r>
                        <a:rPr lang="hu-HU" sz="1400" dirty="0" err="1">
                          <a:effectLst/>
                        </a:rPr>
                        <a:t>GHz</a:t>
                      </a:r>
                      <a:r>
                        <a:rPr lang="hu-HU" sz="1400" dirty="0">
                          <a:effectLst/>
                        </a:rPr>
                        <a:t> és 5 </a:t>
                      </a:r>
                      <a:r>
                        <a:rPr lang="hu-HU" sz="1400" dirty="0" err="1">
                          <a:effectLst/>
                        </a:rPr>
                        <a:t>GHz</a:t>
                      </a:r>
                      <a:endParaRPr lang="hu-HU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632" marR="6632" marT="6632" marB="6632" anchor="ctr"/>
                </a:tc>
                <a:extLst>
                  <a:ext uri="{0D108BD9-81ED-4DB2-BD59-A6C34878D82A}">
                    <a16:rowId xmlns:a16="http://schemas.microsoft.com/office/drawing/2014/main" val="3429836222"/>
                  </a:ext>
                </a:extLst>
              </a:tr>
              <a:tr h="1030486">
                <a:tc>
                  <a:txBody>
                    <a:bodyPr/>
                    <a:lstStyle/>
                    <a:p>
                      <a:pPr marR="36195" indent="756285">
                        <a:lnSpc>
                          <a:spcPct val="300000"/>
                        </a:lnSpc>
                        <a:spcAft>
                          <a:spcPts val="0"/>
                        </a:spcAft>
                      </a:pPr>
                      <a:r>
                        <a:rPr lang="hu-HU" sz="1400" dirty="0">
                          <a:effectLst/>
                        </a:rPr>
                        <a:t>Eszközök kezelése</a:t>
                      </a:r>
                      <a:endParaRPr lang="hu-HU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632" marR="6632" marT="6632" marB="6632" anchor="ctr"/>
                </a:tc>
                <a:tc>
                  <a:txBody>
                    <a:bodyPr/>
                    <a:lstStyle/>
                    <a:p>
                      <a:pPr marR="36195" indent="756285">
                        <a:lnSpc>
                          <a:spcPct val="300000"/>
                        </a:lnSpc>
                        <a:spcAft>
                          <a:spcPts val="0"/>
                        </a:spcAft>
                      </a:pPr>
                      <a:r>
                        <a:rPr lang="hu-HU" sz="1400" dirty="0">
                          <a:effectLst/>
                        </a:rPr>
                        <a:t>Korlátozott</a:t>
                      </a:r>
                      <a:endParaRPr lang="hu-HU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632" marR="6632" marT="6632" marB="6632" anchor="ctr"/>
                </a:tc>
                <a:tc>
                  <a:txBody>
                    <a:bodyPr/>
                    <a:lstStyle/>
                    <a:p>
                      <a:pPr marR="36195" indent="756285">
                        <a:lnSpc>
                          <a:spcPct val="300000"/>
                        </a:lnSpc>
                        <a:spcAft>
                          <a:spcPts val="0"/>
                        </a:spcAft>
                      </a:pPr>
                      <a:r>
                        <a:rPr lang="hu-HU" sz="1400" dirty="0">
                          <a:effectLst/>
                        </a:rPr>
                        <a:t>Jobb, de még nem optimális</a:t>
                      </a:r>
                      <a:endParaRPr lang="hu-HU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632" marR="6632" marT="6632" marB="6632" anchor="ctr"/>
                </a:tc>
                <a:tc>
                  <a:txBody>
                    <a:bodyPr/>
                    <a:lstStyle/>
                    <a:p>
                      <a:pPr marR="36195" indent="756285">
                        <a:lnSpc>
                          <a:spcPct val="300000"/>
                        </a:lnSpc>
                        <a:spcAft>
                          <a:spcPts val="0"/>
                        </a:spcAft>
                      </a:pPr>
                      <a:r>
                        <a:rPr lang="hu-HU" sz="1400" dirty="0">
                          <a:effectLst/>
                        </a:rPr>
                        <a:t>Több eszköz egyidejű támogatása</a:t>
                      </a:r>
                      <a:endParaRPr lang="hu-HU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632" marR="6632" marT="6632" marB="6632" anchor="ctr"/>
                </a:tc>
                <a:extLst>
                  <a:ext uri="{0D108BD9-81ED-4DB2-BD59-A6C34878D82A}">
                    <a16:rowId xmlns:a16="http://schemas.microsoft.com/office/drawing/2014/main" val="3852007281"/>
                  </a:ext>
                </a:extLst>
              </a:tr>
              <a:tr h="1030486">
                <a:tc>
                  <a:txBody>
                    <a:bodyPr/>
                    <a:lstStyle/>
                    <a:p>
                      <a:pPr marR="36195" indent="756285">
                        <a:lnSpc>
                          <a:spcPct val="300000"/>
                        </a:lnSpc>
                        <a:spcAft>
                          <a:spcPts val="0"/>
                        </a:spcAft>
                      </a:pPr>
                      <a:r>
                        <a:rPr lang="hu-HU" sz="1400" dirty="0">
                          <a:effectLst/>
                        </a:rPr>
                        <a:t>Energiahatékonyság</a:t>
                      </a:r>
                      <a:endParaRPr lang="hu-HU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632" marR="6632" marT="6632" marB="6632" anchor="ctr"/>
                </a:tc>
                <a:tc>
                  <a:txBody>
                    <a:bodyPr/>
                    <a:lstStyle/>
                    <a:p>
                      <a:pPr marR="36195" indent="756285">
                        <a:lnSpc>
                          <a:spcPct val="300000"/>
                        </a:lnSpc>
                        <a:spcAft>
                          <a:spcPts val="0"/>
                        </a:spcAft>
                      </a:pPr>
                      <a:r>
                        <a:rPr lang="hu-HU" sz="1400" dirty="0">
                          <a:effectLst/>
                        </a:rPr>
                        <a:t>Alacsony</a:t>
                      </a:r>
                      <a:endParaRPr lang="hu-HU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632" marR="6632" marT="6632" marB="6632" anchor="ctr"/>
                </a:tc>
                <a:tc>
                  <a:txBody>
                    <a:bodyPr/>
                    <a:lstStyle/>
                    <a:p>
                      <a:pPr marR="36195" indent="756285">
                        <a:lnSpc>
                          <a:spcPct val="300000"/>
                        </a:lnSpc>
                        <a:spcAft>
                          <a:spcPts val="0"/>
                        </a:spcAft>
                      </a:pPr>
                      <a:r>
                        <a:rPr lang="hu-HU" sz="1400" dirty="0">
                          <a:effectLst/>
                        </a:rPr>
                        <a:t>Közepes</a:t>
                      </a:r>
                      <a:endParaRPr lang="hu-HU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632" marR="6632" marT="6632" marB="6632" anchor="ctr"/>
                </a:tc>
                <a:tc>
                  <a:txBody>
                    <a:bodyPr/>
                    <a:lstStyle/>
                    <a:p>
                      <a:pPr marR="36195" indent="756285">
                        <a:lnSpc>
                          <a:spcPct val="300000"/>
                        </a:lnSpc>
                        <a:spcAft>
                          <a:spcPts val="0"/>
                        </a:spcAft>
                      </a:pPr>
                      <a:r>
                        <a:rPr lang="hu-HU" sz="1400" dirty="0">
                          <a:effectLst/>
                        </a:rPr>
                        <a:t>Magas (TWT technológia miatt)</a:t>
                      </a:r>
                      <a:endParaRPr lang="hu-HU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632" marR="6632" marT="6632" marB="6632" anchor="ctr"/>
                </a:tc>
                <a:extLst>
                  <a:ext uri="{0D108BD9-81ED-4DB2-BD59-A6C34878D82A}">
                    <a16:rowId xmlns:a16="http://schemas.microsoft.com/office/drawing/2014/main" val="28782096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55909093"/>
      </p:ext>
    </p:extLst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3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>
            <a:extLst>
              <a:ext uri="{FF2B5EF4-FFF2-40B4-BE49-F238E27FC236}">
                <a16:creationId xmlns:a16="http://schemas.microsoft.com/office/drawing/2014/main" id="{519886A0-E1C6-4155-AA35-8594180409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 b="1" dirty="0"/>
              <a:t>Oktatás:</a:t>
            </a:r>
            <a:r>
              <a:rPr lang="hu-HU" dirty="0"/>
              <a:t> A távoktatás és a digitális tananyagok miatt az iskolákban megbízható, nagy sávszélességű hálózatokra van szükség. A </a:t>
            </a:r>
            <a:r>
              <a:rPr lang="hu-HU" dirty="0" err="1"/>
              <a:t>Wi</a:t>
            </a:r>
            <a:r>
              <a:rPr lang="hu-HU" dirty="0"/>
              <a:t>-Fi 6 képes egyszerre sok diákot kiszolgálni.</a:t>
            </a:r>
          </a:p>
          <a:p>
            <a:pPr lvl="0"/>
            <a:r>
              <a:rPr lang="hu-HU" b="1" dirty="0"/>
              <a:t>Okosotthonok:</a:t>
            </a:r>
            <a:r>
              <a:rPr lang="hu-HU" dirty="0"/>
              <a:t> A háztartásokban egyre több okoseszköz működik (lámpák, kamerák, termosztátok). A </a:t>
            </a:r>
            <a:r>
              <a:rPr lang="hu-HU" dirty="0" err="1"/>
              <a:t>Wi</a:t>
            </a:r>
            <a:r>
              <a:rPr lang="hu-HU" dirty="0"/>
              <a:t>-Fi 6 képes ezeket egyszerre, hatékonyan kezelni.</a:t>
            </a:r>
          </a:p>
          <a:p>
            <a:pPr lvl="0"/>
            <a:r>
              <a:rPr lang="hu-HU" b="1" dirty="0"/>
              <a:t>Ipar 4.0 és munkahelyek:</a:t>
            </a:r>
            <a:r>
              <a:rPr lang="hu-HU" dirty="0"/>
              <a:t> A gyárakban és irodákban a gyors és stabil vezeték nélküli kapcsolat kulcsfontosságú a termelékenységhez.</a:t>
            </a:r>
          </a:p>
          <a:p>
            <a:pPr lvl="0"/>
            <a:r>
              <a:rPr lang="hu-HU" b="1" dirty="0"/>
              <a:t>Szórakozás és média:</a:t>
            </a:r>
            <a:r>
              <a:rPr lang="hu-HU" dirty="0"/>
              <a:t> A 4K/8K videók és online játékok esetében a </a:t>
            </a:r>
            <a:r>
              <a:rPr lang="hu-HU" dirty="0" err="1"/>
              <a:t>Wi</a:t>
            </a:r>
            <a:r>
              <a:rPr lang="hu-HU" dirty="0"/>
              <a:t>-Fi 6 alacsonyabb késleltetést és megszakításmentes adatátvitelt biztosít.</a:t>
            </a:r>
          </a:p>
          <a:p>
            <a:endParaRPr lang="hu-HU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4E11BCB9-30ED-477C-AA79-0567C39344C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646111" y="783651"/>
            <a:ext cx="9211176" cy="7386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tabLst>
                <a:tab pos="5754688" algn="r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tabLst>
                <a:tab pos="5754688" algn="r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tabLst>
                <a:tab pos="5754688" algn="r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tabLst>
                <a:tab pos="5754688" algn="r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tabLst>
                <a:tab pos="5754688" algn="r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tabLst>
                <a:tab pos="5754688" algn="r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tabLst>
                <a:tab pos="5754688" algn="r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tabLst>
                <a:tab pos="5754688" algn="r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tabLst>
                <a:tab pos="5754688" algn="r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0" indent="755650" defTabSz="914400"/>
            <a:r>
              <a:rPr lang="hu-HU" dirty="0"/>
              <a:t>Előnyök és alkalmazási területek:</a:t>
            </a:r>
            <a:endParaRPr kumimoji="0" lang="hu-HU" altLang="hu-H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77829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flash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3000"/>
                            </p:stCondLst>
                            <p:childTnLst>
                              <p:par>
                                <p:cTn id="1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0"/>
                            </p:stCondLst>
                            <p:childTnLst>
                              <p:par>
                                <p:cTn id="27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3141D9E-0D02-4539-AD95-F257B09162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357" y="250838"/>
            <a:ext cx="9404723" cy="1400530"/>
          </a:xfrm>
        </p:spPr>
        <p:txBody>
          <a:bodyPr/>
          <a:lstStyle/>
          <a:p>
            <a:r>
              <a:rPr lang="hu-HU" dirty="0"/>
              <a:t>Összegzés: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73DD602-11D4-488E-9D49-2AAEC503E0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sz="2400" dirty="0"/>
              <a:t>A </a:t>
            </a:r>
            <a:r>
              <a:rPr lang="hu-HU" sz="2400" dirty="0" err="1"/>
              <a:t>Wi</a:t>
            </a:r>
            <a:r>
              <a:rPr lang="hu-HU" sz="2400" dirty="0"/>
              <a:t>-Fi 6 a vezeték nélküli hálózatok fejlődésének következő fontos lépcsője. </a:t>
            </a:r>
          </a:p>
          <a:p>
            <a:r>
              <a:rPr lang="hu-HU" sz="2400" dirty="0"/>
              <a:t>A korábbi generációkhoz képest gyorsabb, stabilabb és energiahatékonyabb megoldást kínál, ami elengedhetetlen a modern, digitálisan összekapcsolt világban.</a:t>
            </a:r>
          </a:p>
          <a:p>
            <a:r>
              <a:rPr lang="hu-HU" sz="2400" dirty="0"/>
              <a:t>Ahogy egyre több eszköz csatlakozik az internetre, a </a:t>
            </a:r>
            <a:r>
              <a:rPr lang="hu-HU" sz="2400" dirty="0" err="1"/>
              <a:t>Wi</a:t>
            </a:r>
            <a:r>
              <a:rPr lang="hu-HU" sz="2400" dirty="0"/>
              <a:t>-Fi 6 alaptechnológiává válik, és előkészíti az utat a jövő szabványa, a </a:t>
            </a:r>
            <a:r>
              <a:rPr lang="hu-HU" sz="2400" dirty="0" err="1"/>
              <a:t>Wi</a:t>
            </a:r>
            <a:r>
              <a:rPr lang="hu-HU" sz="2400" dirty="0"/>
              <a:t>-Fi 7 előtt.</a:t>
            </a: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261464067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drap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6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1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22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3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4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4000"/>
                            </p:stCondLst>
                            <p:childTnLst>
                              <p:par>
                                <p:cTn id="26" presetID="26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34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35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6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37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8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39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40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41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6000"/>
                            </p:stCondLst>
                            <p:childTnLst>
                              <p:par>
                                <p:cTn id="43" presetID="26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51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52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53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54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55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56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57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58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97E6353-88C6-4F99-A749-FA00433683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4220" y="369591"/>
            <a:ext cx="9404723" cy="1400530"/>
          </a:xfrm>
        </p:spPr>
        <p:txBody>
          <a:bodyPr/>
          <a:lstStyle/>
          <a:p>
            <a:r>
              <a:rPr lang="hu-HU" dirty="0"/>
              <a:t> Felhasznált források: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4F16A6B-107A-4B82-AF1E-53EB1B0D0B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 sz="3200" dirty="0"/>
              <a:t>IEEE 802.11ax szabvány leírása (IEEE </a:t>
            </a:r>
            <a:r>
              <a:rPr lang="hu-HU" sz="3200" dirty="0" err="1"/>
              <a:t>Standards</a:t>
            </a:r>
            <a:r>
              <a:rPr lang="hu-HU" sz="3200" dirty="0"/>
              <a:t> </a:t>
            </a:r>
            <a:r>
              <a:rPr lang="hu-HU" sz="3200" dirty="0" err="1"/>
              <a:t>Association</a:t>
            </a:r>
            <a:r>
              <a:rPr lang="hu-HU" sz="3200" dirty="0"/>
              <a:t>)</a:t>
            </a:r>
          </a:p>
          <a:p>
            <a:pPr lvl="0"/>
            <a:r>
              <a:rPr lang="hu-HU" sz="3200" dirty="0" err="1"/>
              <a:t>Wi</a:t>
            </a:r>
            <a:r>
              <a:rPr lang="hu-HU" sz="3200" dirty="0"/>
              <a:t>-Fi </a:t>
            </a:r>
            <a:r>
              <a:rPr lang="hu-HU" sz="3200" dirty="0" err="1"/>
              <a:t>Alliance</a:t>
            </a:r>
            <a:r>
              <a:rPr lang="hu-HU" sz="3200" dirty="0"/>
              <a:t>: </a:t>
            </a:r>
            <a:r>
              <a:rPr lang="hu-HU" sz="3200" i="1" dirty="0" err="1"/>
              <a:t>Introduction</a:t>
            </a:r>
            <a:r>
              <a:rPr lang="hu-HU" sz="3200" i="1" dirty="0"/>
              <a:t> </a:t>
            </a:r>
            <a:r>
              <a:rPr lang="hu-HU" sz="3200" i="1" dirty="0" err="1"/>
              <a:t>to</a:t>
            </a:r>
            <a:r>
              <a:rPr lang="hu-HU" sz="3200" i="1" dirty="0"/>
              <a:t> </a:t>
            </a:r>
            <a:r>
              <a:rPr lang="hu-HU" sz="3200" i="1" dirty="0" err="1"/>
              <a:t>Wi</a:t>
            </a:r>
            <a:r>
              <a:rPr lang="hu-HU" sz="3200" i="1" dirty="0"/>
              <a:t>-Fi 6</a:t>
            </a:r>
            <a:r>
              <a:rPr lang="hu-HU" sz="3200" dirty="0"/>
              <a:t> (2024)</a:t>
            </a:r>
          </a:p>
          <a:p>
            <a:pPr lvl="0"/>
            <a:r>
              <a:rPr lang="hu-HU" sz="3200" dirty="0"/>
              <a:t>TP-Link, ASUS és </a:t>
            </a:r>
            <a:r>
              <a:rPr lang="hu-HU" sz="3200" dirty="0" err="1"/>
              <a:t>Netgear</a:t>
            </a:r>
            <a:r>
              <a:rPr lang="hu-HU" sz="3200" dirty="0"/>
              <a:t> hivatalos termékismertetői</a:t>
            </a:r>
          </a:p>
          <a:p>
            <a:pPr lvl="0"/>
            <a:r>
              <a:rPr lang="hu-HU" sz="3200" dirty="0" err="1"/>
              <a:t>TechRadar</a:t>
            </a:r>
            <a:r>
              <a:rPr lang="hu-HU" sz="3200" dirty="0"/>
              <a:t>: </a:t>
            </a:r>
            <a:r>
              <a:rPr lang="hu-HU" sz="3200" i="1" dirty="0" err="1"/>
              <a:t>What</a:t>
            </a:r>
            <a:r>
              <a:rPr lang="hu-HU" sz="3200" i="1" dirty="0"/>
              <a:t> Is </a:t>
            </a:r>
            <a:r>
              <a:rPr lang="hu-HU" sz="3200" i="1" dirty="0" err="1"/>
              <a:t>Wi</a:t>
            </a:r>
            <a:r>
              <a:rPr lang="hu-HU" sz="3200" i="1" dirty="0"/>
              <a:t>-Fi 6 and </a:t>
            </a:r>
            <a:r>
              <a:rPr lang="hu-HU" sz="3200" i="1" dirty="0" err="1"/>
              <a:t>Why</a:t>
            </a:r>
            <a:r>
              <a:rPr lang="hu-HU" sz="3200" i="1" dirty="0"/>
              <a:t> </a:t>
            </a:r>
            <a:r>
              <a:rPr lang="hu-HU" sz="3200" i="1" dirty="0" err="1"/>
              <a:t>It</a:t>
            </a:r>
            <a:r>
              <a:rPr lang="hu-HU" sz="3200" i="1" dirty="0"/>
              <a:t> </a:t>
            </a:r>
            <a:r>
              <a:rPr lang="hu-HU" sz="3200" i="1" dirty="0" err="1"/>
              <a:t>Matters</a:t>
            </a:r>
            <a:r>
              <a:rPr lang="hu-HU" sz="3200" i="1" dirty="0"/>
              <a:t>?</a:t>
            </a:r>
            <a:r>
              <a:rPr lang="hu-HU" sz="3200" dirty="0"/>
              <a:t> (2023)</a:t>
            </a: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20903257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fractur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6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3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2500"/>
                            </p:stCondLst>
                            <p:childTnLst>
                              <p:par>
                                <p:cTn id="15" presetID="6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4500"/>
                            </p:stCondLst>
                            <p:childTnLst>
                              <p:par>
                                <p:cTn id="19" presetID="6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6500"/>
                            </p:stCondLst>
                            <p:childTnLst>
                              <p:par>
                                <p:cTn id="23" presetID="6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5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442AD5E-87B5-4802-B27C-1B8D4363D7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Köszönöm a figyelmet!</a:t>
            </a:r>
          </a:p>
        </p:txBody>
      </p:sp>
    </p:spTree>
    <p:extLst>
      <p:ext uri="{BB962C8B-B14F-4D97-AF65-F5344CB8AC3E}">
        <p14:creationId xmlns:p14="http://schemas.microsoft.com/office/powerpoint/2010/main" val="1213734605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0</TotalTime>
  <Words>413</Words>
  <Application>Microsoft Office PowerPoint</Application>
  <PresentationFormat>Szélesvásznú</PresentationFormat>
  <Paragraphs>43</Paragraphs>
  <Slides>7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5</vt:i4>
      </vt:variant>
      <vt:variant>
        <vt:lpstr>Téma</vt:lpstr>
      </vt:variant>
      <vt:variant>
        <vt:i4>1</vt:i4>
      </vt:variant>
      <vt:variant>
        <vt:lpstr>Diacímek</vt:lpstr>
      </vt:variant>
      <vt:variant>
        <vt:i4>7</vt:i4>
      </vt:variant>
    </vt:vector>
  </HeadingPairs>
  <TitlesOfParts>
    <vt:vector size="13" baseType="lpstr">
      <vt:lpstr>Arial</vt:lpstr>
      <vt:lpstr>Calibri</vt:lpstr>
      <vt:lpstr>Century Gothic</vt:lpstr>
      <vt:lpstr>Times New Roman</vt:lpstr>
      <vt:lpstr>Wingdings 3</vt:lpstr>
      <vt:lpstr>Ion</vt:lpstr>
      <vt:lpstr>WIFI 6</vt:lpstr>
      <vt:lpstr>A Wi-Fi 6 technológia fő jellemzői:</vt:lpstr>
      <vt:lpstr> Összehasonlítás a korábbi szabványokkal:</vt:lpstr>
      <vt:lpstr>Előnyök és alkalmazási területek:</vt:lpstr>
      <vt:lpstr>Összegzés:</vt:lpstr>
      <vt:lpstr> Felhasznált források:</vt:lpstr>
      <vt:lpstr>Köszönöm a figyelmet!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WIFI 6</dc:title>
  <dc:creator>Székely Máté</dc:creator>
  <cp:lastModifiedBy>Székely Máté</cp:lastModifiedBy>
  <cp:revision>6</cp:revision>
  <dcterms:created xsi:type="dcterms:W3CDTF">2025-11-04T09:03:54Z</dcterms:created>
  <dcterms:modified xsi:type="dcterms:W3CDTF">2025-11-25T07:57:59Z</dcterms:modified>
</cp:coreProperties>
</file>