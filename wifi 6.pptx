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070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214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848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028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738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588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13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003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192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872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696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8394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0086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4110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500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4269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82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7D76C4A-E1F9-49C1-BCE4-2E358991CE58}" type="datetimeFigureOut">
              <a:rPr lang="hu-HU" smtClean="0"/>
              <a:t>2025. 12. 02.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E8CFC50-B5E9-4F9E-9F3F-97A57D0BE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4202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1D0A3A-F724-4787-8059-59E703156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WIFI 6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1894AB-D880-4DCC-968E-C826A74B1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4012" y="3905711"/>
            <a:ext cx="8825658" cy="861420"/>
          </a:xfrm>
        </p:spPr>
        <p:txBody>
          <a:bodyPr/>
          <a:lstStyle/>
          <a:p>
            <a:r>
              <a:rPr lang="hu-HU" dirty="0"/>
              <a:t>Készítette: Székely Máté</a:t>
            </a:r>
          </a:p>
        </p:txBody>
      </p:sp>
    </p:spTree>
    <p:extLst>
      <p:ext uri="{BB962C8B-B14F-4D97-AF65-F5344CB8AC3E}">
        <p14:creationId xmlns:p14="http://schemas.microsoft.com/office/powerpoint/2010/main" val="379219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DCFB65-2577-40FC-945B-97FF274F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803" y="120238"/>
            <a:ext cx="9905998" cy="1905000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Wi</a:t>
            </a:r>
            <a:r>
              <a:rPr lang="hu-HU" dirty="0"/>
              <a:t>-Fi 6 technológia fő jellemzői: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71D08A-0CF3-4D40-B971-5F7BF2A99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803" y="1589781"/>
            <a:ext cx="8946541" cy="4195481"/>
          </a:xfrm>
        </p:spPr>
        <p:txBody>
          <a:bodyPr>
            <a:normAutofit lnSpcReduction="10000"/>
          </a:bodyPr>
          <a:lstStyle/>
          <a:p>
            <a:r>
              <a:rPr lang="hu-HU" sz="2800" b="1" dirty="0"/>
              <a:t>OFDMA:</a:t>
            </a:r>
            <a:r>
              <a:rPr lang="hu-HU" sz="2800" dirty="0"/>
              <a:t> Több eszköz egyszerre kommunikál egy csatornán → </a:t>
            </a:r>
            <a:r>
              <a:rPr lang="hu-HU" sz="2800" b="1" dirty="0"/>
              <a:t>kisebb késés, hatékonyabb adatforgalom</a:t>
            </a:r>
            <a:r>
              <a:rPr lang="hu-HU" sz="2800" dirty="0"/>
              <a:t>.</a:t>
            </a:r>
          </a:p>
          <a:p>
            <a:r>
              <a:rPr lang="hu-HU" sz="2800" b="1" dirty="0"/>
              <a:t>MU-MIMO:</a:t>
            </a:r>
            <a:r>
              <a:rPr lang="hu-HU" sz="2800" dirty="0"/>
              <a:t> Több eszköz egyszerre tölthet le </a:t>
            </a:r>
            <a:r>
              <a:rPr lang="hu-HU" sz="2800" b="1" dirty="0"/>
              <a:t>és</a:t>
            </a:r>
            <a:r>
              <a:rPr lang="hu-HU" sz="2800" dirty="0"/>
              <a:t> fel → </a:t>
            </a:r>
            <a:r>
              <a:rPr lang="hu-HU" sz="2800" b="1" dirty="0"/>
              <a:t>gyorsabb többfelhasználós működés</a:t>
            </a:r>
            <a:r>
              <a:rPr lang="hu-HU" sz="2800" dirty="0"/>
              <a:t>.</a:t>
            </a:r>
          </a:p>
          <a:p>
            <a:r>
              <a:rPr lang="hu-HU" sz="2800" b="1" dirty="0"/>
              <a:t>TWT:</a:t>
            </a:r>
            <a:r>
              <a:rPr lang="hu-HU" sz="2800" dirty="0"/>
              <a:t> Eszközök csak szükség esetén ébrednek → </a:t>
            </a:r>
            <a:r>
              <a:rPr lang="hu-HU" sz="2800" b="1" dirty="0"/>
              <a:t>jobb energiatakarékosság</a:t>
            </a:r>
            <a:r>
              <a:rPr lang="hu-HU" sz="2800" dirty="0"/>
              <a:t>.</a:t>
            </a:r>
          </a:p>
          <a:p>
            <a:r>
              <a:rPr lang="hu-HU" sz="2800" b="1" dirty="0"/>
              <a:t>1024-QAM:</a:t>
            </a:r>
            <a:r>
              <a:rPr lang="hu-HU" sz="2800" dirty="0"/>
              <a:t> Sűrűbb jelmoduláció → </a:t>
            </a:r>
            <a:r>
              <a:rPr lang="hu-HU" sz="2800" b="1" dirty="0"/>
              <a:t>nagyobb sebesség (akár 9,6 </a:t>
            </a:r>
            <a:r>
              <a:rPr lang="hu-HU" sz="2800" b="1" dirty="0" err="1"/>
              <a:t>Gb</a:t>
            </a:r>
            <a:r>
              <a:rPr lang="hu-HU" sz="2800" b="1" dirty="0"/>
              <a:t>/s)</a:t>
            </a:r>
            <a:r>
              <a:rPr lang="hu-HU" sz="2800" dirty="0"/>
              <a:t>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106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F73DD5-DE63-4971-9FA3-B0F832CD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 Összehasonlítás a korábbi szabványokkal: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7DF07875-4C92-4854-B1FB-F2A3B0134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503753"/>
              </p:ext>
            </p:extLst>
          </p:nvPr>
        </p:nvGraphicFramePr>
        <p:xfrm>
          <a:off x="1017319" y="2197633"/>
          <a:ext cx="11062960" cy="4465041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765740">
                  <a:extLst>
                    <a:ext uri="{9D8B030D-6E8A-4147-A177-3AD203B41FA5}">
                      <a16:colId xmlns:a16="http://schemas.microsoft.com/office/drawing/2014/main" val="1100907579"/>
                    </a:ext>
                  </a:extLst>
                </a:gridCol>
                <a:gridCol w="2765740">
                  <a:extLst>
                    <a:ext uri="{9D8B030D-6E8A-4147-A177-3AD203B41FA5}">
                      <a16:colId xmlns:a16="http://schemas.microsoft.com/office/drawing/2014/main" val="1717276060"/>
                    </a:ext>
                  </a:extLst>
                </a:gridCol>
                <a:gridCol w="2765740">
                  <a:extLst>
                    <a:ext uri="{9D8B030D-6E8A-4147-A177-3AD203B41FA5}">
                      <a16:colId xmlns:a16="http://schemas.microsoft.com/office/drawing/2014/main" val="2718057074"/>
                    </a:ext>
                  </a:extLst>
                </a:gridCol>
                <a:gridCol w="2765740">
                  <a:extLst>
                    <a:ext uri="{9D8B030D-6E8A-4147-A177-3AD203B41FA5}">
                      <a16:colId xmlns:a16="http://schemas.microsoft.com/office/drawing/2014/main" val="1921894733"/>
                    </a:ext>
                  </a:extLst>
                </a:gridCol>
              </a:tblGrid>
              <a:tr h="469380">
                <a:tc>
                  <a:txBody>
                    <a:bodyPr/>
                    <a:lstStyle/>
                    <a:p>
                      <a:pPr marR="36195" indent="756285" algn="ctr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Tulajdonság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 algn="ctr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 err="1">
                          <a:effectLst/>
                        </a:rPr>
                        <a:t>Wi</a:t>
                      </a:r>
                      <a:r>
                        <a:rPr lang="hu-HU" sz="1400" dirty="0">
                          <a:effectLst/>
                        </a:rPr>
                        <a:t>-Fi 4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 algn="ctr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 err="1">
                          <a:effectLst/>
                        </a:rPr>
                        <a:t>Wi</a:t>
                      </a:r>
                      <a:r>
                        <a:rPr lang="hu-HU" sz="1400" dirty="0">
                          <a:effectLst/>
                        </a:rPr>
                        <a:t>-Fi 5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 algn="ctr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>
                          <a:effectLst/>
                        </a:rPr>
                        <a:t>Wi-Fi 6</a:t>
                      </a:r>
                      <a:endParaRPr lang="hu-H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extLst>
                  <a:ext uri="{0D108BD9-81ED-4DB2-BD59-A6C34878D82A}">
                    <a16:rowId xmlns:a16="http://schemas.microsoft.com/office/drawing/2014/main" val="2308868288"/>
                  </a:ext>
                </a:extLst>
              </a:tr>
              <a:tr h="1030356"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Maximális sebesség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600 </a:t>
                      </a:r>
                      <a:r>
                        <a:rPr lang="hu-HU" sz="1400" dirty="0" err="1">
                          <a:effectLst/>
                        </a:rPr>
                        <a:t>Mb</a:t>
                      </a:r>
                      <a:r>
                        <a:rPr lang="hu-HU" sz="1400" dirty="0">
                          <a:effectLst/>
                        </a:rPr>
                        <a:t>/s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3,5 </a:t>
                      </a:r>
                      <a:r>
                        <a:rPr lang="hu-HU" sz="1400" dirty="0" err="1">
                          <a:effectLst/>
                        </a:rPr>
                        <a:t>Gb</a:t>
                      </a:r>
                      <a:r>
                        <a:rPr lang="hu-HU" sz="1400" dirty="0">
                          <a:effectLst/>
                        </a:rPr>
                        <a:t>/s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9,6 </a:t>
                      </a:r>
                      <a:r>
                        <a:rPr lang="hu-HU" sz="1400" dirty="0" err="1">
                          <a:effectLst/>
                        </a:rPr>
                        <a:t>Gb</a:t>
                      </a:r>
                      <a:r>
                        <a:rPr lang="hu-HU" sz="1400" dirty="0">
                          <a:effectLst/>
                        </a:rPr>
                        <a:t>/s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extLst>
                  <a:ext uri="{0D108BD9-81ED-4DB2-BD59-A6C34878D82A}">
                    <a16:rowId xmlns:a16="http://schemas.microsoft.com/office/drawing/2014/main" val="2646591340"/>
                  </a:ext>
                </a:extLst>
              </a:tr>
              <a:tr h="469509"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Frekvenciasáv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2,4 </a:t>
                      </a:r>
                      <a:r>
                        <a:rPr lang="hu-HU" sz="1400" dirty="0" err="1">
                          <a:effectLst/>
                        </a:rPr>
                        <a:t>GHz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5 </a:t>
                      </a:r>
                      <a:r>
                        <a:rPr lang="hu-HU" sz="1400" dirty="0" err="1">
                          <a:effectLst/>
                        </a:rPr>
                        <a:t>GHz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2,4 </a:t>
                      </a:r>
                      <a:r>
                        <a:rPr lang="hu-HU" sz="1400" dirty="0" err="1">
                          <a:effectLst/>
                        </a:rPr>
                        <a:t>GHz</a:t>
                      </a:r>
                      <a:r>
                        <a:rPr lang="hu-HU" sz="1400" dirty="0">
                          <a:effectLst/>
                        </a:rPr>
                        <a:t> és 5 </a:t>
                      </a:r>
                      <a:r>
                        <a:rPr lang="hu-HU" sz="1400" dirty="0" err="1">
                          <a:effectLst/>
                        </a:rPr>
                        <a:t>GHz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extLst>
                  <a:ext uri="{0D108BD9-81ED-4DB2-BD59-A6C34878D82A}">
                    <a16:rowId xmlns:a16="http://schemas.microsoft.com/office/drawing/2014/main" val="3429836222"/>
                  </a:ext>
                </a:extLst>
              </a:tr>
              <a:tr h="1030486"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Eszközök kezelése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Korlátozott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Jobb, de még nem optimális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Több eszköz egyidejű támogatása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extLst>
                  <a:ext uri="{0D108BD9-81ED-4DB2-BD59-A6C34878D82A}">
                    <a16:rowId xmlns:a16="http://schemas.microsoft.com/office/drawing/2014/main" val="3852007281"/>
                  </a:ext>
                </a:extLst>
              </a:tr>
              <a:tr h="1030486"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Energiahatékonyság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Alacsony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Közepes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tc>
                  <a:txBody>
                    <a:bodyPr/>
                    <a:lstStyle/>
                    <a:p>
                      <a:pPr marR="36195" indent="756285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hu-HU" sz="1400" dirty="0">
                          <a:effectLst/>
                        </a:rPr>
                        <a:t>Magas (TWT technológia miatt)</a:t>
                      </a:r>
                      <a:endParaRPr lang="hu-H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32" marR="6632" marT="6632" marB="6632" anchor="ctr"/>
                </a:tc>
                <a:extLst>
                  <a:ext uri="{0D108BD9-81ED-4DB2-BD59-A6C34878D82A}">
                    <a16:rowId xmlns:a16="http://schemas.microsoft.com/office/drawing/2014/main" val="2878209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90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E11BCB9-30ED-477C-AA79-0567C3934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6111" y="783651"/>
            <a:ext cx="921117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5468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indent="755650" defTabSz="914400"/>
            <a:r>
              <a:rPr lang="hu-HU" dirty="0"/>
              <a:t>Előnyök és alkalmazási területek: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9886A0-E1C6-4155-AA35-859418040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b="1" dirty="0"/>
              <a:t>Oktatás:</a:t>
            </a:r>
            <a:r>
              <a:rPr lang="hu-HU" sz="2800" dirty="0"/>
              <a:t> Sok diák egyszerre → </a:t>
            </a:r>
            <a:r>
              <a:rPr lang="hu-HU" sz="2800" b="1" dirty="0"/>
              <a:t>megbízható, nagy sávszél</a:t>
            </a:r>
            <a:r>
              <a:rPr lang="hu-HU" sz="2800" dirty="0"/>
              <a:t>.</a:t>
            </a:r>
          </a:p>
          <a:p>
            <a:r>
              <a:rPr lang="hu-HU" sz="2800" b="1" dirty="0"/>
              <a:t>Okosotthon:</a:t>
            </a:r>
            <a:r>
              <a:rPr lang="hu-HU" sz="2800" dirty="0"/>
              <a:t> Sok eszköz együtt → </a:t>
            </a:r>
            <a:r>
              <a:rPr lang="hu-HU" sz="2800" b="1" dirty="0"/>
              <a:t>hatékony kezelés</a:t>
            </a:r>
            <a:r>
              <a:rPr lang="hu-HU" sz="2800" dirty="0"/>
              <a:t>.</a:t>
            </a:r>
          </a:p>
          <a:p>
            <a:r>
              <a:rPr lang="hu-HU" sz="2800" b="1" dirty="0"/>
              <a:t>Ipar 4.0 / munkahely:</a:t>
            </a:r>
            <a:r>
              <a:rPr lang="hu-HU" sz="2800" dirty="0"/>
              <a:t> Gyors, stabil kapcsolat → </a:t>
            </a:r>
            <a:r>
              <a:rPr lang="hu-HU" sz="2800" b="1" dirty="0"/>
              <a:t>nagyobb termelékenység</a:t>
            </a:r>
            <a:r>
              <a:rPr lang="hu-HU" sz="2800" dirty="0"/>
              <a:t>.</a:t>
            </a:r>
          </a:p>
          <a:p>
            <a:r>
              <a:rPr lang="hu-HU" sz="2800" b="1" dirty="0"/>
              <a:t>Szórakozás:</a:t>
            </a:r>
            <a:r>
              <a:rPr lang="hu-HU" sz="2800" dirty="0"/>
              <a:t> 4K/8K, játék → </a:t>
            </a:r>
            <a:r>
              <a:rPr lang="hu-HU" sz="2800" b="1" dirty="0"/>
              <a:t>alacsony késés, stabil </a:t>
            </a:r>
            <a:r>
              <a:rPr lang="hu-HU" sz="2800" b="1" dirty="0" err="1"/>
              <a:t>stream</a:t>
            </a:r>
            <a:r>
              <a:rPr lang="hu-HU" sz="2800" dirty="0"/>
              <a:t>.</a:t>
            </a:r>
          </a:p>
          <a:p>
            <a:pPr lvl="0"/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778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141D9E-0D02-4539-AD95-F257B091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57" y="250838"/>
            <a:ext cx="9404723" cy="1400530"/>
          </a:xfrm>
        </p:spPr>
        <p:txBody>
          <a:bodyPr/>
          <a:lstStyle/>
          <a:p>
            <a:r>
              <a:rPr lang="hu-HU" dirty="0"/>
              <a:t>Összegzés: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3801CA-E49F-40F3-B201-8DD756A60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7357" y="1984148"/>
            <a:ext cx="802287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</a:t>
            </a: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-Fi 6: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vezeték nélküli hálózatok új, fejlettebb lépcsője.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Előnyök: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Gyorsabb, stabilabb, energiahatékonyabb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működés.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Jövő: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Sok eszköz kiszolgálására kész → </a:t>
            </a: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alaptechnológia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-Fi 7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előfutára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146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7E6353-88C6-4F99-A749-FA004336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369591"/>
            <a:ext cx="9404723" cy="1400530"/>
          </a:xfrm>
        </p:spPr>
        <p:txBody>
          <a:bodyPr/>
          <a:lstStyle/>
          <a:p>
            <a:r>
              <a:rPr lang="hu-HU" dirty="0"/>
              <a:t> Felhasznált források: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F16A6B-107A-4B82-AF1E-53EB1B0D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hu-HU" sz="3200" dirty="0"/>
              <a:t>IEEE 802.11ax szabvány leírása (IEEE </a:t>
            </a:r>
            <a:r>
              <a:rPr lang="hu-HU" sz="3200" dirty="0" err="1"/>
              <a:t>Standards</a:t>
            </a:r>
            <a:r>
              <a:rPr lang="hu-HU" sz="3200" dirty="0"/>
              <a:t> </a:t>
            </a:r>
            <a:r>
              <a:rPr lang="hu-HU" sz="3200" dirty="0" err="1"/>
              <a:t>Association</a:t>
            </a:r>
            <a:r>
              <a:rPr lang="hu-HU" sz="3200" dirty="0"/>
              <a:t>)</a:t>
            </a:r>
          </a:p>
          <a:p>
            <a:pPr lvl="0"/>
            <a:r>
              <a:rPr lang="hu-HU" sz="3200" dirty="0" err="1"/>
              <a:t>Wi</a:t>
            </a:r>
            <a:r>
              <a:rPr lang="hu-HU" sz="3200" dirty="0"/>
              <a:t>-Fi </a:t>
            </a:r>
            <a:r>
              <a:rPr lang="hu-HU" sz="3200" dirty="0" err="1"/>
              <a:t>Alliance</a:t>
            </a:r>
            <a:r>
              <a:rPr lang="hu-HU" sz="3200" dirty="0"/>
              <a:t>: </a:t>
            </a:r>
            <a:r>
              <a:rPr lang="hu-HU" sz="3200" i="1" dirty="0" err="1"/>
              <a:t>Introduction</a:t>
            </a:r>
            <a:r>
              <a:rPr lang="hu-HU" sz="3200" i="1" dirty="0"/>
              <a:t> </a:t>
            </a:r>
            <a:r>
              <a:rPr lang="hu-HU" sz="3200" i="1" dirty="0" err="1"/>
              <a:t>to</a:t>
            </a:r>
            <a:r>
              <a:rPr lang="hu-HU" sz="3200" i="1" dirty="0"/>
              <a:t> </a:t>
            </a:r>
            <a:r>
              <a:rPr lang="hu-HU" sz="3200" i="1" dirty="0" err="1"/>
              <a:t>Wi</a:t>
            </a:r>
            <a:r>
              <a:rPr lang="hu-HU" sz="3200" i="1" dirty="0"/>
              <a:t>-Fi 6</a:t>
            </a:r>
            <a:r>
              <a:rPr lang="hu-HU" sz="3200" dirty="0"/>
              <a:t> (2024)</a:t>
            </a:r>
          </a:p>
          <a:p>
            <a:pPr lvl="0"/>
            <a:r>
              <a:rPr lang="hu-HU" sz="3200" dirty="0"/>
              <a:t>TP-Link, ASUS és </a:t>
            </a:r>
            <a:r>
              <a:rPr lang="hu-HU" sz="3200" dirty="0" err="1"/>
              <a:t>Netgear</a:t>
            </a:r>
            <a:r>
              <a:rPr lang="hu-HU" sz="3200" dirty="0"/>
              <a:t> hivatalos termékismertetői</a:t>
            </a:r>
          </a:p>
          <a:p>
            <a:pPr lvl="0"/>
            <a:r>
              <a:rPr lang="hu-HU" sz="3200" dirty="0" err="1"/>
              <a:t>TechRadar</a:t>
            </a:r>
            <a:r>
              <a:rPr lang="hu-HU" sz="3200" dirty="0"/>
              <a:t>: </a:t>
            </a:r>
            <a:r>
              <a:rPr lang="hu-HU" sz="3200" i="1" dirty="0" err="1"/>
              <a:t>What</a:t>
            </a:r>
            <a:r>
              <a:rPr lang="hu-HU" sz="3200" i="1" dirty="0"/>
              <a:t> Is </a:t>
            </a:r>
            <a:r>
              <a:rPr lang="hu-HU" sz="3200" i="1" dirty="0" err="1"/>
              <a:t>Wi</a:t>
            </a:r>
            <a:r>
              <a:rPr lang="hu-HU" sz="3200" i="1" dirty="0"/>
              <a:t>-Fi 6 and </a:t>
            </a:r>
            <a:r>
              <a:rPr lang="hu-HU" sz="3200" i="1" dirty="0" err="1"/>
              <a:t>Why</a:t>
            </a:r>
            <a:r>
              <a:rPr lang="hu-HU" sz="3200" i="1" dirty="0"/>
              <a:t> </a:t>
            </a:r>
            <a:r>
              <a:rPr lang="hu-HU" sz="3200" i="1" dirty="0" err="1"/>
              <a:t>It</a:t>
            </a:r>
            <a:r>
              <a:rPr lang="hu-HU" sz="3200" i="1" dirty="0"/>
              <a:t> </a:t>
            </a:r>
            <a:r>
              <a:rPr lang="hu-HU" sz="3200" i="1" dirty="0" err="1"/>
              <a:t>Matters</a:t>
            </a:r>
            <a:r>
              <a:rPr lang="hu-HU" sz="3200" i="1" dirty="0"/>
              <a:t>?</a:t>
            </a:r>
            <a:r>
              <a:rPr lang="hu-HU" sz="3200" dirty="0"/>
              <a:t> (2023)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903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42AD5E-87B5-4802-B27C-1B8D4363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667" y="1828800"/>
            <a:ext cx="9322130" cy="2244436"/>
          </a:xfrm>
        </p:spPr>
        <p:txBody>
          <a:bodyPr>
            <a:normAutofit/>
          </a:bodyPr>
          <a:lstStyle/>
          <a:p>
            <a:pPr algn="ctr"/>
            <a:r>
              <a:rPr lang="hu-HU" sz="5400" b="1" i="1" u="sng" dirty="0">
                <a:solidFill>
                  <a:schemeClr val="tx1"/>
                </a:solidFill>
              </a:rPr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121373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0</TotalTime>
  <Words>263</Words>
  <Application>Microsoft Office PowerPoint</Application>
  <PresentationFormat>Szélesvásznú</PresentationFormat>
  <Paragraphs>43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Times New Roman</vt:lpstr>
      <vt:lpstr>Szita</vt:lpstr>
      <vt:lpstr>WIFI 6</vt:lpstr>
      <vt:lpstr>A Wi-Fi 6 technológia fő jellemzői:</vt:lpstr>
      <vt:lpstr> Összehasonlítás a korábbi szabványokkal:</vt:lpstr>
      <vt:lpstr>Előnyök és alkalmazási területek:</vt:lpstr>
      <vt:lpstr>Összegzés:</vt:lpstr>
      <vt:lpstr> Felhasznált források: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6</dc:title>
  <dc:creator>Székely Máté</dc:creator>
  <cp:lastModifiedBy>Székely Máté</cp:lastModifiedBy>
  <cp:revision>10</cp:revision>
  <dcterms:created xsi:type="dcterms:W3CDTF">2025-11-04T09:03:54Z</dcterms:created>
  <dcterms:modified xsi:type="dcterms:W3CDTF">2025-12-02T08:20:13Z</dcterms:modified>
</cp:coreProperties>
</file>