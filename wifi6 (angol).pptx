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5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hu-HU"/>
              <a:t>Mintacím szerkesztése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2564080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147780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hu-HU"/>
              <a:t>Mintacím szerkesztése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2409771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42F38665-A365-4D18-A76E-0BFFF29CEE92}" type="datetimeFigureOut">
              <a:rPr lang="hu-HU" smtClean="0"/>
              <a:t>2025. 11. 19.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1149148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u-HU"/>
              <a:t>Mintacím szerkesztése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42F38665-A365-4D18-A76E-0BFFF29CEE92}" type="datetimeFigureOut">
              <a:rPr lang="hu-HU" smtClean="0"/>
              <a:t>2025. 11. 19.</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2394683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7" name="Date Placeholder 2"/>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3"/>
          <p:cNvSpPr>
            <a:spLocks noGrp="1"/>
          </p:cNvSpPr>
          <p:nvPr>
            <p:ph type="ftr" sz="quarter" idx="11"/>
          </p:nvPr>
        </p:nvSpPr>
        <p:spPr/>
        <p:txBody>
          <a:bodyPr/>
          <a:lstStyle/>
          <a:p>
            <a:endParaRPr lang="hu-HU"/>
          </a:p>
        </p:txBody>
      </p:sp>
      <p:sp>
        <p:nvSpPr>
          <p:cNvPr id="6" name="Slide Number Placeholder 4"/>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3559933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2"/>
          <p:cNvSpPr>
            <a:spLocks noGrp="1"/>
          </p:cNvSpPr>
          <p:nvPr>
            <p:ph type="ftr" sz="quarter" idx="11"/>
          </p:nvPr>
        </p:nvSpPr>
        <p:spPr/>
        <p:txBody>
          <a:bodyPr/>
          <a:lstStyle/>
          <a:p>
            <a:endParaRPr lang="hu-HU"/>
          </a:p>
        </p:txBody>
      </p:sp>
      <p:sp>
        <p:nvSpPr>
          <p:cNvPr id="6" name="Slide Number Placeholder 3"/>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2297610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hu-HU"/>
              <a:t>Mintacím szerkesztése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7" name="Date Placeholder 4"/>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5"/>
          <p:cNvSpPr>
            <a:spLocks noGrp="1"/>
          </p:cNvSpPr>
          <p:nvPr>
            <p:ph type="ftr" sz="quarter" idx="11"/>
          </p:nvPr>
        </p:nvSpPr>
        <p:spPr/>
        <p:txBody>
          <a:bodyPr/>
          <a:lstStyle/>
          <a:p>
            <a:endParaRPr lang="hu-HU"/>
          </a:p>
        </p:txBody>
      </p:sp>
      <p:sp>
        <p:nvSpPr>
          <p:cNvPr id="6" name="Slide Number Placeholder 6"/>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4185509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hu-HU"/>
              <a:t>Mintacím szerkesztése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42F38665-A365-4D18-A76E-0BFFF29CEE92}" type="datetimeFigureOut">
              <a:rPr lang="hu-HU" smtClean="0"/>
              <a:t>2025. 11. 19.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1774820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hu-HU"/>
              <a:t>Mintacím szerkesztése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42F38665-A365-4D18-A76E-0BFFF29CEE92}" type="datetimeFigureOut">
              <a:rPr lang="hu-HU" smtClean="0"/>
              <a:t>2025. 11. 19.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851691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hu-HU"/>
              <a:t>Mintacím szerkesztése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4"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215018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hu-HU"/>
              <a:t>Mintacím szerkesztése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hu-HU"/>
              <a:t>Mintaszöveg szerkesztése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4"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75055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hu-HU"/>
              <a:t>Mintacím szerkesztése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864029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u-HU"/>
              <a:t>Mintacím szerkesztése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4"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42294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u-HU"/>
              <a:t>Mintacím szerkesztése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4"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1253338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nchor="t" anchorCtr="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36695235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hu-HU"/>
              <a:t>Mintacím szerkesztése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42F38665-A365-4D18-A76E-0BFFF29CEE92}" type="datetimeFigureOut">
              <a:rPr lang="hu-HU" smtClean="0"/>
              <a:t>2025. 11. 19.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9167BACC-EA90-4FCA-A01A-71309A4E78EE}" type="slidenum">
              <a:rPr lang="hu-HU" smtClean="0"/>
              <a:t>‹#›</a:t>
            </a:fld>
            <a:endParaRPr lang="hu-HU"/>
          </a:p>
        </p:txBody>
      </p:sp>
    </p:spTree>
    <p:extLst>
      <p:ext uri="{BB962C8B-B14F-4D97-AF65-F5344CB8AC3E}">
        <p14:creationId xmlns:p14="http://schemas.microsoft.com/office/powerpoint/2010/main" val="407430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hu-HU"/>
              <a:t>Mintacím szerkesztése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2F38665-A365-4D18-A76E-0BFFF29CEE92}" type="datetimeFigureOut">
              <a:rPr lang="hu-HU" smtClean="0"/>
              <a:t>2025. 11. 19.</a:t>
            </a:fld>
            <a:endParaRPr lang="hu-HU"/>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hu-H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167BACC-EA90-4FCA-A01A-71309A4E78EE}" type="slidenum">
              <a:rPr lang="hu-HU" smtClean="0"/>
              <a:t>‹#›</a:t>
            </a:fld>
            <a:endParaRPr lang="hu-HU"/>
          </a:p>
        </p:txBody>
      </p:sp>
    </p:spTree>
    <p:extLst>
      <p:ext uri="{BB962C8B-B14F-4D97-AF65-F5344CB8AC3E}">
        <p14:creationId xmlns:p14="http://schemas.microsoft.com/office/powerpoint/2010/main" val="153207770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6F35158-7E02-4B4B-9B08-1349D7AEE6A4}"/>
              </a:ext>
            </a:extLst>
          </p:cNvPr>
          <p:cNvSpPr>
            <a:spLocks noGrp="1"/>
          </p:cNvSpPr>
          <p:nvPr>
            <p:ph type="ctrTitle"/>
          </p:nvPr>
        </p:nvSpPr>
        <p:spPr/>
        <p:txBody>
          <a:bodyPr/>
          <a:lstStyle/>
          <a:p>
            <a:r>
              <a:rPr lang="hu-HU" dirty="0"/>
              <a:t>WIFI 6</a:t>
            </a:r>
          </a:p>
        </p:txBody>
      </p:sp>
      <p:sp>
        <p:nvSpPr>
          <p:cNvPr id="3" name="Alcím 2">
            <a:extLst>
              <a:ext uri="{FF2B5EF4-FFF2-40B4-BE49-F238E27FC236}">
                <a16:creationId xmlns:a16="http://schemas.microsoft.com/office/drawing/2014/main" id="{88762525-20F0-4CF8-9661-F98D292FBCC3}"/>
              </a:ext>
            </a:extLst>
          </p:cNvPr>
          <p:cNvSpPr>
            <a:spLocks noGrp="1"/>
          </p:cNvSpPr>
          <p:nvPr>
            <p:ph type="subTitle" idx="1"/>
          </p:nvPr>
        </p:nvSpPr>
        <p:spPr/>
        <p:txBody>
          <a:bodyPr/>
          <a:lstStyle/>
          <a:p>
            <a:pPr algn="r"/>
            <a:r>
              <a:rPr lang="hu-HU" dirty="0" err="1"/>
              <a:t>Created</a:t>
            </a:r>
            <a:r>
              <a:rPr lang="hu-HU" dirty="0"/>
              <a:t> </a:t>
            </a:r>
            <a:r>
              <a:rPr lang="hu-HU" dirty="0" err="1"/>
              <a:t>by</a:t>
            </a:r>
            <a:r>
              <a:rPr lang="hu-HU" dirty="0"/>
              <a:t>: </a:t>
            </a:r>
            <a:r>
              <a:rPr lang="hu-HU" dirty="0" err="1"/>
              <a:t>Mate</a:t>
            </a:r>
            <a:r>
              <a:rPr lang="hu-HU" dirty="0"/>
              <a:t> </a:t>
            </a:r>
            <a:r>
              <a:rPr lang="hu-HU" dirty="0" err="1"/>
              <a:t>Szekely</a:t>
            </a:r>
            <a:endParaRPr lang="hu-HU" dirty="0"/>
          </a:p>
        </p:txBody>
      </p:sp>
    </p:spTree>
    <p:extLst>
      <p:ext uri="{BB962C8B-B14F-4D97-AF65-F5344CB8AC3E}">
        <p14:creationId xmlns:p14="http://schemas.microsoft.com/office/powerpoint/2010/main" val="2251665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2C68C4A-A7D3-491C-B308-DBE5156E78FB}"/>
              </a:ext>
            </a:extLst>
          </p:cNvPr>
          <p:cNvSpPr>
            <a:spLocks noGrp="1"/>
          </p:cNvSpPr>
          <p:nvPr>
            <p:ph type="title"/>
          </p:nvPr>
        </p:nvSpPr>
        <p:spPr/>
        <p:txBody>
          <a:bodyPr/>
          <a:lstStyle/>
          <a:p>
            <a:r>
              <a:rPr lang="en-US" dirty="0"/>
              <a:t>Main features of Wi-Fi 6 technology</a:t>
            </a:r>
            <a:r>
              <a:rPr lang="hu-HU" dirty="0"/>
              <a:t>:</a:t>
            </a:r>
          </a:p>
        </p:txBody>
      </p:sp>
      <p:sp>
        <p:nvSpPr>
          <p:cNvPr id="3" name="Tartalom helye 2">
            <a:extLst>
              <a:ext uri="{FF2B5EF4-FFF2-40B4-BE49-F238E27FC236}">
                <a16:creationId xmlns:a16="http://schemas.microsoft.com/office/drawing/2014/main" id="{2B86B79B-2D68-40BE-9A15-7E1FFC6632D1}"/>
              </a:ext>
            </a:extLst>
          </p:cNvPr>
          <p:cNvSpPr>
            <a:spLocks noGrp="1"/>
          </p:cNvSpPr>
          <p:nvPr>
            <p:ph idx="1"/>
          </p:nvPr>
        </p:nvSpPr>
        <p:spPr/>
        <p:txBody>
          <a:bodyPr>
            <a:normAutofit fontScale="85000" lnSpcReduction="20000"/>
          </a:bodyPr>
          <a:lstStyle/>
          <a:p>
            <a:r>
              <a:rPr lang="en-US" sz="2400" dirty="0"/>
              <a:t>OFDMA (Orthogonal Frequency Division Multiple Access): This technology allows multiple devices to communicate simultaneously on a single data channel. This reduces latency and makes data traffic management more efficient.</a:t>
            </a:r>
            <a:endParaRPr lang="hu-HU" sz="2400" dirty="0"/>
          </a:p>
          <a:p>
            <a:r>
              <a:rPr lang="en-US" sz="2400" dirty="0"/>
              <a:t>MU-MIMO (Multi-User, Multiple Input Multiple Output): Already used by Wi-Fi 5, but further improved by Wi-Fi 6. Now multiple devices can communicate simultaneously not only during downloads, but also during uploads.</a:t>
            </a:r>
            <a:endParaRPr lang="hu-HU" sz="2400" dirty="0"/>
          </a:p>
          <a:p>
            <a:r>
              <a:rPr lang="en-US" sz="2400" dirty="0"/>
              <a:t>TWT (Target Wake Time): This new feature is designed to save power. Devices can remain in “sleep” mode until data traffic is needed, so that, for example, smart home devices have much longer battery life.</a:t>
            </a:r>
            <a:endParaRPr lang="hu-HU" sz="2400" dirty="0"/>
          </a:p>
          <a:p>
            <a:r>
              <a:rPr lang="en-US" sz="2400" dirty="0"/>
              <a:t>1024-QAM modulation: Higher modulation density increases data transfer rates – up to 9.6 Gb/s is possible under ideal conditions.</a:t>
            </a:r>
            <a:endParaRPr lang="hu-HU" sz="2400" dirty="0"/>
          </a:p>
          <a:p>
            <a:endParaRPr lang="hu-HU" dirty="0"/>
          </a:p>
        </p:txBody>
      </p:sp>
    </p:spTree>
    <p:extLst>
      <p:ext uri="{BB962C8B-B14F-4D97-AF65-F5344CB8AC3E}">
        <p14:creationId xmlns:p14="http://schemas.microsoft.com/office/powerpoint/2010/main" val="2409629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55624C2-472E-4AE6-BE1B-A3D5AA119B2E}"/>
              </a:ext>
            </a:extLst>
          </p:cNvPr>
          <p:cNvSpPr>
            <a:spLocks noGrp="1"/>
          </p:cNvSpPr>
          <p:nvPr>
            <p:ph type="title"/>
          </p:nvPr>
        </p:nvSpPr>
        <p:spPr>
          <a:xfrm>
            <a:off x="883618" y="447588"/>
            <a:ext cx="9404723" cy="1400530"/>
          </a:xfrm>
        </p:spPr>
        <p:txBody>
          <a:bodyPr/>
          <a:lstStyle/>
          <a:p>
            <a:r>
              <a:rPr lang="hu-HU" dirty="0" err="1"/>
              <a:t>Comparison</a:t>
            </a:r>
            <a:r>
              <a:rPr lang="hu-HU" dirty="0"/>
              <a:t> </a:t>
            </a:r>
            <a:r>
              <a:rPr lang="hu-HU" dirty="0" err="1"/>
              <a:t>with</a:t>
            </a:r>
            <a:r>
              <a:rPr lang="hu-HU" dirty="0"/>
              <a:t> </a:t>
            </a:r>
            <a:r>
              <a:rPr lang="hu-HU" dirty="0" err="1"/>
              <a:t>previous</a:t>
            </a:r>
            <a:r>
              <a:rPr lang="hu-HU" dirty="0"/>
              <a:t> </a:t>
            </a:r>
            <a:r>
              <a:rPr lang="hu-HU" dirty="0" err="1"/>
              <a:t>standards</a:t>
            </a:r>
            <a:r>
              <a:rPr lang="hu-HU" dirty="0"/>
              <a:t>:</a:t>
            </a:r>
          </a:p>
        </p:txBody>
      </p:sp>
      <p:graphicFrame>
        <p:nvGraphicFramePr>
          <p:cNvPr id="6" name="Tartalom helye 5">
            <a:extLst>
              <a:ext uri="{FF2B5EF4-FFF2-40B4-BE49-F238E27FC236}">
                <a16:creationId xmlns:a16="http://schemas.microsoft.com/office/drawing/2014/main" id="{1EF628F3-83A3-4D71-811E-9CF0391908DC}"/>
              </a:ext>
            </a:extLst>
          </p:cNvPr>
          <p:cNvGraphicFramePr>
            <a:graphicFrameLocks noGrp="1"/>
          </p:cNvGraphicFramePr>
          <p:nvPr>
            <p:ph idx="1"/>
            <p:extLst>
              <p:ext uri="{D42A27DB-BD31-4B8C-83A1-F6EECF244321}">
                <p14:modId xmlns:p14="http://schemas.microsoft.com/office/powerpoint/2010/main" val="1315252615"/>
              </p:ext>
            </p:extLst>
          </p:nvPr>
        </p:nvGraphicFramePr>
        <p:xfrm>
          <a:off x="1103313" y="2101932"/>
          <a:ext cx="10760136" cy="4308480"/>
        </p:xfrm>
        <a:graphic>
          <a:graphicData uri="http://schemas.openxmlformats.org/drawingml/2006/table">
            <a:tbl>
              <a:tblPr firstRow="1" firstCol="1" bandRow="1" bandCol="1">
                <a:tableStyleId>{5C22544A-7EE6-4342-B048-85BDC9FD1C3A}</a:tableStyleId>
              </a:tblPr>
              <a:tblGrid>
                <a:gridCol w="2690034">
                  <a:extLst>
                    <a:ext uri="{9D8B030D-6E8A-4147-A177-3AD203B41FA5}">
                      <a16:colId xmlns:a16="http://schemas.microsoft.com/office/drawing/2014/main" val="4034812676"/>
                    </a:ext>
                  </a:extLst>
                </a:gridCol>
                <a:gridCol w="2690034">
                  <a:extLst>
                    <a:ext uri="{9D8B030D-6E8A-4147-A177-3AD203B41FA5}">
                      <a16:colId xmlns:a16="http://schemas.microsoft.com/office/drawing/2014/main" val="3027345971"/>
                    </a:ext>
                  </a:extLst>
                </a:gridCol>
                <a:gridCol w="2690034">
                  <a:extLst>
                    <a:ext uri="{9D8B030D-6E8A-4147-A177-3AD203B41FA5}">
                      <a16:colId xmlns:a16="http://schemas.microsoft.com/office/drawing/2014/main" val="3033664026"/>
                    </a:ext>
                  </a:extLst>
                </a:gridCol>
                <a:gridCol w="2690034">
                  <a:extLst>
                    <a:ext uri="{9D8B030D-6E8A-4147-A177-3AD203B41FA5}">
                      <a16:colId xmlns:a16="http://schemas.microsoft.com/office/drawing/2014/main" val="4138182436"/>
                    </a:ext>
                  </a:extLst>
                </a:gridCol>
              </a:tblGrid>
              <a:tr h="1000356">
                <a:tc>
                  <a:txBody>
                    <a:bodyPr/>
                    <a:lstStyle/>
                    <a:p>
                      <a:r>
                        <a:rPr lang="hu-HU" dirty="0" err="1"/>
                        <a:t>Propety</a:t>
                      </a:r>
                      <a:endParaRPr lang="hu-HU" dirty="0"/>
                    </a:p>
                  </a:txBody>
                  <a:tcPr/>
                </a:tc>
                <a:tc>
                  <a:txBody>
                    <a:bodyPr/>
                    <a:lstStyle/>
                    <a:p>
                      <a:r>
                        <a:rPr lang="hu-HU" dirty="0"/>
                        <a:t>WIFI4</a:t>
                      </a:r>
                    </a:p>
                  </a:txBody>
                  <a:tcPr/>
                </a:tc>
                <a:tc>
                  <a:txBody>
                    <a:bodyPr/>
                    <a:lstStyle/>
                    <a:p>
                      <a:r>
                        <a:rPr lang="hu-HU" dirty="0"/>
                        <a:t>WIFI5</a:t>
                      </a:r>
                    </a:p>
                  </a:txBody>
                  <a:tcPr/>
                </a:tc>
                <a:tc>
                  <a:txBody>
                    <a:bodyPr/>
                    <a:lstStyle/>
                    <a:p>
                      <a:r>
                        <a:rPr lang="hu-HU" dirty="0"/>
                        <a:t>WIFI6</a:t>
                      </a:r>
                    </a:p>
                  </a:txBody>
                  <a:tcPr/>
                </a:tc>
                <a:extLst>
                  <a:ext uri="{0D108BD9-81ED-4DB2-BD59-A6C34878D82A}">
                    <a16:rowId xmlns:a16="http://schemas.microsoft.com/office/drawing/2014/main" val="4073425567"/>
                  </a:ext>
                </a:extLst>
              </a:tr>
              <a:tr h="797908">
                <a:tc>
                  <a:txBody>
                    <a:bodyPr/>
                    <a:lstStyle/>
                    <a:p>
                      <a:r>
                        <a:rPr lang="hu-HU" dirty="0"/>
                        <a:t>Maximum </a:t>
                      </a:r>
                      <a:r>
                        <a:rPr lang="hu-HU" dirty="0" err="1"/>
                        <a:t>speed</a:t>
                      </a:r>
                      <a:endParaRPr lang="hu-HU"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800" dirty="0">
                          <a:effectLst/>
                        </a:rPr>
                        <a:t>600 </a:t>
                      </a:r>
                      <a:r>
                        <a:rPr lang="hu-HU" sz="1800" dirty="0" err="1">
                          <a:effectLst/>
                        </a:rPr>
                        <a:t>Mb</a:t>
                      </a:r>
                      <a:r>
                        <a:rPr lang="hu-HU" sz="1800" dirty="0">
                          <a:effectLst/>
                        </a:rPr>
                        <a:t>/s</a:t>
                      </a:r>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hu-HU" dirty="0"/>
                    </a:p>
                  </a:txBody>
                  <a:tcPr/>
                </a:tc>
                <a:tc>
                  <a:txBody>
                    <a:bodyPr/>
                    <a:lstStyle/>
                    <a:p>
                      <a:r>
                        <a:rPr lang="hu-HU" dirty="0"/>
                        <a:t>3.5</a:t>
                      </a:r>
                      <a:r>
                        <a:rPr lang="hu-HU" sz="1800" dirty="0">
                          <a:effectLst/>
                        </a:rPr>
                        <a:t>Gb/s</a:t>
                      </a:r>
                      <a:endParaRPr lang="hu-HU" dirty="0"/>
                    </a:p>
                  </a:txBody>
                  <a:tcPr/>
                </a:tc>
                <a:tc>
                  <a:txBody>
                    <a:bodyPr/>
                    <a:lstStyle/>
                    <a:p>
                      <a:r>
                        <a:rPr lang="hu-HU" dirty="0"/>
                        <a:t>9.6</a:t>
                      </a:r>
                      <a:r>
                        <a:rPr lang="hu-HU" sz="1800" dirty="0">
                          <a:effectLst/>
                        </a:rPr>
                        <a:t>Gb/s</a:t>
                      </a:r>
                      <a:endParaRPr lang="hu-HU" dirty="0"/>
                    </a:p>
                  </a:txBody>
                  <a:tcPr/>
                </a:tc>
                <a:extLst>
                  <a:ext uri="{0D108BD9-81ED-4DB2-BD59-A6C34878D82A}">
                    <a16:rowId xmlns:a16="http://schemas.microsoft.com/office/drawing/2014/main" val="621715790"/>
                  </a:ext>
                </a:extLst>
              </a:tr>
              <a:tr h="797908">
                <a:tc>
                  <a:txBody>
                    <a:bodyPr/>
                    <a:lstStyle/>
                    <a:p>
                      <a:r>
                        <a:rPr lang="hu-HU" dirty="0" err="1"/>
                        <a:t>Frequency</a:t>
                      </a:r>
                      <a:r>
                        <a:rPr lang="hu-HU" dirty="0"/>
                        <a:t> </a:t>
                      </a:r>
                      <a:r>
                        <a:rPr lang="hu-HU" dirty="0" err="1"/>
                        <a:t>band</a:t>
                      </a:r>
                      <a:endParaRPr lang="hu-HU" dirty="0"/>
                    </a:p>
                  </a:txBody>
                  <a:tcPr/>
                </a:tc>
                <a:tc>
                  <a:txBody>
                    <a:bodyPr/>
                    <a:lstStyle/>
                    <a:p>
                      <a:r>
                        <a:rPr lang="hu-HU" dirty="0"/>
                        <a:t>2.4</a:t>
                      </a:r>
                      <a:r>
                        <a:rPr lang="hu-HU" sz="1800" dirty="0">
                          <a:effectLst/>
                        </a:rPr>
                        <a:t>GHz</a:t>
                      </a:r>
                      <a:endParaRPr lang="hu-HU"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800" dirty="0">
                          <a:effectLst/>
                        </a:rPr>
                        <a:t>5 </a:t>
                      </a:r>
                      <a:r>
                        <a:rPr lang="hu-HU" sz="1800" dirty="0" err="1">
                          <a:effectLst/>
                        </a:rPr>
                        <a:t>GHz</a:t>
                      </a:r>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hu-HU"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hu-HU" sz="1800" dirty="0">
                          <a:effectLst/>
                        </a:rPr>
                        <a:t>2,4 </a:t>
                      </a:r>
                      <a:r>
                        <a:rPr lang="hu-HU" sz="1800" dirty="0" err="1">
                          <a:effectLst/>
                        </a:rPr>
                        <a:t>GHz</a:t>
                      </a:r>
                      <a:r>
                        <a:rPr lang="hu-HU" sz="1800" dirty="0">
                          <a:effectLst/>
                        </a:rPr>
                        <a:t> és 5 </a:t>
                      </a:r>
                      <a:r>
                        <a:rPr lang="hu-HU" sz="1800" dirty="0" err="1">
                          <a:effectLst/>
                        </a:rPr>
                        <a:t>GHz</a:t>
                      </a:r>
                      <a:endParaRPr lang="hu-H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hu-HU" dirty="0"/>
                    </a:p>
                  </a:txBody>
                  <a:tcPr/>
                </a:tc>
                <a:extLst>
                  <a:ext uri="{0D108BD9-81ED-4DB2-BD59-A6C34878D82A}">
                    <a16:rowId xmlns:a16="http://schemas.microsoft.com/office/drawing/2014/main" val="2075372509"/>
                  </a:ext>
                </a:extLst>
              </a:tr>
              <a:tr h="797908">
                <a:tc>
                  <a:txBody>
                    <a:bodyPr/>
                    <a:lstStyle/>
                    <a:p>
                      <a:r>
                        <a:rPr lang="hu-HU" dirty="0" err="1"/>
                        <a:t>Manage</a:t>
                      </a:r>
                      <a:r>
                        <a:rPr lang="hu-HU" dirty="0"/>
                        <a:t> </a:t>
                      </a:r>
                      <a:r>
                        <a:rPr lang="hu-HU" dirty="0" err="1"/>
                        <a:t>devices</a:t>
                      </a:r>
                      <a:endParaRPr lang="hu-HU" dirty="0"/>
                    </a:p>
                  </a:txBody>
                  <a:tcPr/>
                </a:tc>
                <a:tc>
                  <a:txBody>
                    <a:bodyPr/>
                    <a:lstStyle/>
                    <a:p>
                      <a:r>
                        <a:rPr lang="hu-HU" dirty="0"/>
                        <a:t>Limited</a:t>
                      </a:r>
                    </a:p>
                  </a:txBody>
                  <a:tcPr/>
                </a:tc>
                <a:tc>
                  <a:txBody>
                    <a:bodyPr/>
                    <a:lstStyle/>
                    <a:p>
                      <a:r>
                        <a:rPr lang="en-US" dirty="0"/>
                        <a:t>Better, but not yet optimal</a:t>
                      </a:r>
                      <a:endParaRPr lang="hu-HU" dirty="0"/>
                    </a:p>
                  </a:txBody>
                  <a:tcPr/>
                </a:tc>
                <a:tc>
                  <a:txBody>
                    <a:bodyPr/>
                    <a:lstStyle/>
                    <a:p>
                      <a:r>
                        <a:rPr lang="en-US" dirty="0"/>
                        <a:t>Support for multiple devices simultaneously</a:t>
                      </a:r>
                      <a:endParaRPr lang="hu-HU" dirty="0"/>
                    </a:p>
                  </a:txBody>
                  <a:tcPr/>
                </a:tc>
                <a:extLst>
                  <a:ext uri="{0D108BD9-81ED-4DB2-BD59-A6C34878D82A}">
                    <a16:rowId xmlns:a16="http://schemas.microsoft.com/office/drawing/2014/main" val="3855701461"/>
                  </a:ext>
                </a:extLst>
              </a:tr>
              <a:tr h="797908">
                <a:tc>
                  <a:txBody>
                    <a:bodyPr/>
                    <a:lstStyle/>
                    <a:p>
                      <a:r>
                        <a:rPr lang="hu-HU" dirty="0" err="1"/>
                        <a:t>Energy</a:t>
                      </a:r>
                      <a:r>
                        <a:rPr lang="hu-HU" dirty="0"/>
                        <a:t> </a:t>
                      </a:r>
                      <a:r>
                        <a:rPr lang="hu-HU" dirty="0" err="1"/>
                        <a:t>efficiency</a:t>
                      </a:r>
                      <a:endParaRPr lang="hu-HU" dirty="0"/>
                    </a:p>
                  </a:txBody>
                  <a:tcPr/>
                </a:tc>
                <a:tc>
                  <a:txBody>
                    <a:bodyPr/>
                    <a:lstStyle/>
                    <a:p>
                      <a:r>
                        <a:rPr lang="hu-HU" dirty="0"/>
                        <a:t>Low</a:t>
                      </a:r>
                    </a:p>
                  </a:txBody>
                  <a:tcPr/>
                </a:tc>
                <a:tc>
                  <a:txBody>
                    <a:bodyPr/>
                    <a:lstStyle/>
                    <a:p>
                      <a:r>
                        <a:rPr lang="hu-HU" dirty="0" err="1"/>
                        <a:t>Medium</a:t>
                      </a:r>
                      <a:endParaRPr lang="hu-HU" dirty="0"/>
                    </a:p>
                  </a:txBody>
                  <a:tcPr/>
                </a:tc>
                <a:tc>
                  <a:txBody>
                    <a:bodyPr/>
                    <a:lstStyle/>
                    <a:p>
                      <a:r>
                        <a:rPr lang="en-US" dirty="0"/>
                        <a:t>High (due to TWT technology)</a:t>
                      </a:r>
                      <a:endParaRPr lang="hu-HU" dirty="0"/>
                    </a:p>
                  </a:txBody>
                  <a:tcPr/>
                </a:tc>
                <a:extLst>
                  <a:ext uri="{0D108BD9-81ED-4DB2-BD59-A6C34878D82A}">
                    <a16:rowId xmlns:a16="http://schemas.microsoft.com/office/drawing/2014/main" val="2560853871"/>
                  </a:ext>
                </a:extLst>
              </a:tr>
            </a:tbl>
          </a:graphicData>
        </a:graphic>
      </p:graphicFrame>
    </p:spTree>
    <p:extLst>
      <p:ext uri="{BB962C8B-B14F-4D97-AF65-F5344CB8AC3E}">
        <p14:creationId xmlns:p14="http://schemas.microsoft.com/office/powerpoint/2010/main" val="21856719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1B918E3-F3AE-410A-B3B6-A0B64B2711B4}"/>
              </a:ext>
            </a:extLst>
          </p:cNvPr>
          <p:cNvSpPr>
            <a:spLocks noGrp="1"/>
          </p:cNvSpPr>
          <p:nvPr>
            <p:ph type="title"/>
          </p:nvPr>
        </p:nvSpPr>
        <p:spPr>
          <a:xfrm>
            <a:off x="752989" y="488344"/>
            <a:ext cx="9404723" cy="1400530"/>
          </a:xfrm>
        </p:spPr>
        <p:txBody>
          <a:bodyPr/>
          <a:lstStyle/>
          <a:p>
            <a:r>
              <a:rPr lang="en-US" dirty="0"/>
              <a:t>Advantages and areas of application</a:t>
            </a:r>
            <a:r>
              <a:rPr lang="hu-HU" dirty="0"/>
              <a:t>:</a:t>
            </a:r>
          </a:p>
        </p:txBody>
      </p:sp>
      <p:sp>
        <p:nvSpPr>
          <p:cNvPr id="3" name="Tartalom helye 2">
            <a:extLst>
              <a:ext uri="{FF2B5EF4-FFF2-40B4-BE49-F238E27FC236}">
                <a16:creationId xmlns:a16="http://schemas.microsoft.com/office/drawing/2014/main" id="{913F0C04-2F7E-4683-B979-D00BA3FDA68F}"/>
              </a:ext>
            </a:extLst>
          </p:cNvPr>
          <p:cNvSpPr>
            <a:spLocks noGrp="1"/>
          </p:cNvSpPr>
          <p:nvPr>
            <p:ph idx="1"/>
          </p:nvPr>
        </p:nvSpPr>
        <p:spPr/>
        <p:txBody>
          <a:bodyPr>
            <a:noAutofit/>
          </a:bodyPr>
          <a:lstStyle/>
          <a:p>
            <a:r>
              <a:rPr lang="en-US" sz="2400" dirty="0"/>
              <a:t>Education: Distance learning and digital learning require reliable, high-bandwidth networks in schools. Wi-Fi 6 can serve many students at once.</a:t>
            </a:r>
          </a:p>
          <a:p>
            <a:r>
              <a:rPr lang="en-US" sz="2400" dirty="0"/>
              <a:t>Smart Homes: Households are increasingly equipped with smart devices (lights, cameras, thermostats). Wi-Fi 6 can manage them all simultaneously and efficiently.</a:t>
            </a:r>
          </a:p>
          <a:p>
            <a:r>
              <a:rPr lang="en-US" sz="2400" dirty="0"/>
              <a:t>Industry 4.0 and Workplaces: In factories and offices, fast and stable wireless connections are key to productivity.</a:t>
            </a:r>
          </a:p>
          <a:p>
            <a:r>
              <a:rPr lang="en-US" sz="2400" dirty="0"/>
              <a:t>Entertainment and Media: For 4K/8K videos and online games, Wi-Fi 6 provides lower latency and uninterrupted data transfer.</a:t>
            </a:r>
            <a:endParaRPr lang="hu-HU" sz="2400" dirty="0"/>
          </a:p>
        </p:txBody>
      </p:sp>
    </p:spTree>
    <p:extLst>
      <p:ext uri="{BB962C8B-B14F-4D97-AF65-F5344CB8AC3E}">
        <p14:creationId xmlns:p14="http://schemas.microsoft.com/office/powerpoint/2010/main" val="26294050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8F81425-4ADE-47F7-8618-2D445A790909}"/>
              </a:ext>
            </a:extLst>
          </p:cNvPr>
          <p:cNvSpPr>
            <a:spLocks noGrp="1"/>
          </p:cNvSpPr>
          <p:nvPr>
            <p:ph type="title"/>
          </p:nvPr>
        </p:nvSpPr>
        <p:spPr>
          <a:xfrm>
            <a:off x="645130" y="428967"/>
            <a:ext cx="9404723" cy="1400530"/>
          </a:xfrm>
        </p:spPr>
        <p:txBody>
          <a:bodyPr/>
          <a:lstStyle/>
          <a:p>
            <a:r>
              <a:rPr lang="hu-HU" dirty="0" err="1"/>
              <a:t>Summary</a:t>
            </a:r>
            <a:r>
              <a:rPr lang="hu-HU" dirty="0"/>
              <a:t>:</a:t>
            </a:r>
          </a:p>
        </p:txBody>
      </p:sp>
      <p:sp>
        <p:nvSpPr>
          <p:cNvPr id="3" name="Tartalom helye 2">
            <a:extLst>
              <a:ext uri="{FF2B5EF4-FFF2-40B4-BE49-F238E27FC236}">
                <a16:creationId xmlns:a16="http://schemas.microsoft.com/office/drawing/2014/main" id="{21C805DF-D61C-4C13-ACE7-117EAAF8B7AC}"/>
              </a:ext>
            </a:extLst>
          </p:cNvPr>
          <p:cNvSpPr>
            <a:spLocks noGrp="1"/>
          </p:cNvSpPr>
          <p:nvPr>
            <p:ph idx="1"/>
          </p:nvPr>
        </p:nvSpPr>
        <p:spPr/>
        <p:txBody>
          <a:bodyPr>
            <a:normAutofit/>
          </a:bodyPr>
          <a:lstStyle/>
          <a:p>
            <a:r>
              <a:rPr lang="en-US" sz="2800" dirty="0"/>
              <a:t>Wi-Fi 6 is the next major step in the evolution of wireless networks. </a:t>
            </a:r>
          </a:p>
          <a:p>
            <a:r>
              <a:rPr lang="en-US" sz="2800" dirty="0"/>
              <a:t>It offers faster, more stable, and more energy-efficient solutions than previous generations, which is essential in today's digitally connected world. </a:t>
            </a:r>
          </a:p>
          <a:p>
            <a:r>
              <a:rPr lang="en-US" sz="2800" dirty="0"/>
              <a:t>As more devices connect to the internet, Wi-Fi 6 is becoming a mainstream technology and paving the way for the future standard, Wi-Fi 7.</a:t>
            </a:r>
            <a:endParaRPr lang="hu-HU" sz="2800" dirty="0"/>
          </a:p>
        </p:txBody>
      </p:sp>
    </p:spTree>
    <p:extLst>
      <p:ext uri="{BB962C8B-B14F-4D97-AF65-F5344CB8AC3E}">
        <p14:creationId xmlns:p14="http://schemas.microsoft.com/office/powerpoint/2010/main" val="9265718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2" presetClass="entr" presetSubtype="4" fill="hold" nodeType="after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6C12C93-48F2-415A-88D4-87083715EA37}"/>
              </a:ext>
            </a:extLst>
          </p:cNvPr>
          <p:cNvSpPr>
            <a:spLocks noGrp="1"/>
          </p:cNvSpPr>
          <p:nvPr>
            <p:ph type="title"/>
          </p:nvPr>
        </p:nvSpPr>
        <p:spPr/>
        <p:txBody>
          <a:bodyPr/>
          <a:lstStyle/>
          <a:p>
            <a:r>
              <a:rPr lang="hu-HU" dirty="0" err="1"/>
              <a:t>Sources</a:t>
            </a:r>
            <a:r>
              <a:rPr lang="hu-HU" dirty="0"/>
              <a:t> </a:t>
            </a:r>
            <a:r>
              <a:rPr lang="hu-HU" dirty="0" err="1"/>
              <a:t>used</a:t>
            </a:r>
            <a:r>
              <a:rPr lang="hu-HU" dirty="0"/>
              <a:t>:</a:t>
            </a:r>
          </a:p>
        </p:txBody>
      </p:sp>
      <p:sp>
        <p:nvSpPr>
          <p:cNvPr id="3" name="Tartalom helye 2">
            <a:extLst>
              <a:ext uri="{FF2B5EF4-FFF2-40B4-BE49-F238E27FC236}">
                <a16:creationId xmlns:a16="http://schemas.microsoft.com/office/drawing/2014/main" id="{7B38EDFD-D786-4389-9167-85B4CB78A2B1}"/>
              </a:ext>
            </a:extLst>
          </p:cNvPr>
          <p:cNvSpPr>
            <a:spLocks noGrp="1"/>
          </p:cNvSpPr>
          <p:nvPr>
            <p:ph idx="1"/>
          </p:nvPr>
        </p:nvSpPr>
        <p:spPr/>
        <p:txBody>
          <a:bodyPr>
            <a:normAutofit/>
          </a:bodyPr>
          <a:lstStyle/>
          <a:p>
            <a:r>
              <a:rPr lang="en-US" sz="3200" dirty="0"/>
              <a:t>IEEE 802.11ax Standard Description (IEEE Standards Association)</a:t>
            </a:r>
          </a:p>
          <a:p>
            <a:r>
              <a:rPr lang="en-US" sz="3200" dirty="0"/>
              <a:t>Wi-Fi Alliance: Introduction to Wi-Fi 6 (2024)</a:t>
            </a:r>
          </a:p>
          <a:p>
            <a:r>
              <a:rPr lang="en-US" sz="3200" dirty="0"/>
              <a:t>Official Product Guides from TP-Link, ASUS and </a:t>
            </a:r>
            <a:r>
              <a:rPr lang="en-US" sz="3200" dirty="0" err="1"/>
              <a:t>Netgear</a:t>
            </a:r>
            <a:endParaRPr lang="en-US" sz="3200" dirty="0"/>
          </a:p>
          <a:p>
            <a:r>
              <a:rPr lang="en-US" sz="3200" dirty="0"/>
              <a:t>TechRadar: What Is Wi-Fi 6 and Why It Matters? (2023)</a:t>
            </a:r>
            <a:endParaRPr lang="hu-HU" sz="3200" dirty="0"/>
          </a:p>
        </p:txBody>
      </p:sp>
    </p:spTree>
    <p:extLst>
      <p:ext uri="{BB962C8B-B14F-4D97-AF65-F5344CB8AC3E}">
        <p14:creationId xmlns:p14="http://schemas.microsoft.com/office/powerpoint/2010/main" val="10232388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0</TotalTime>
  <Words>420</Words>
  <Application>Microsoft Office PowerPoint</Application>
  <PresentationFormat>Szélesvásznú</PresentationFormat>
  <Paragraphs>42</Paragraphs>
  <Slides>6</Slides>
  <Notes>0</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6</vt:i4>
      </vt:variant>
    </vt:vector>
  </HeadingPairs>
  <TitlesOfParts>
    <vt:vector size="12" baseType="lpstr">
      <vt:lpstr>Arial</vt:lpstr>
      <vt:lpstr>Calibri</vt:lpstr>
      <vt:lpstr>Century Gothic</vt:lpstr>
      <vt:lpstr>Times New Roman</vt:lpstr>
      <vt:lpstr>Wingdings 3</vt:lpstr>
      <vt:lpstr>Ion</vt:lpstr>
      <vt:lpstr>WIFI 6</vt:lpstr>
      <vt:lpstr>Main features of Wi-Fi 6 technology:</vt:lpstr>
      <vt:lpstr>Comparison with previous standards:</vt:lpstr>
      <vt:lpstr>Advantages and areas of application:</vt:lpstr>
      <vt:lpstr>Summary:</vt:lpstr>
      <vt:lpstr>Sources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WIFI 6</dc:title>
  <dc:creator>Székely Máté</dc:creator>
  <cp:lastModifiedBy>Székely Máté</cp:lastModifiedBy>
  <cp:revision>2</cp:revision>
  <dcterms:created xsi:type="dcterms:W3CDTF">2025-11-19T11:04:21Z</dcterms:created>
  <dcterms:modified xsi:type="dcterms:W3CDTF">2025-11-19T11:17:49Z</dcterms:modified>
</cp:coreProperties>
</file>